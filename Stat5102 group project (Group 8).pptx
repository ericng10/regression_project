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13716000" cx="24384000"/>
  <p:notesSz cx="6858000" cy="9144000"/>
  <p:embeddedFontLst>
    <p:embeddedFont>
      <p:font typeface="Play"/>
      <p:regular r:id="rId28"/>
      <p:bold r:id="rId29"/>
    </p:embeddedFont>
    <p:embeddedFont>
      <p:font typeface="Helvetica Neue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j7Z0a7Da2cEN6LH9/kln94NTDt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5A5783-4DA1-42D3-96C6-3617A0168E8E}">
  <a:tblStyle styleId="{535A5783-4DA1-42D3-96C6-3617A0168E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9B5FD9D-0E74-415E-A609-D1882125605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lay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lveticaNeue-bold.fntdata"/><Relationship Id="rId30" Type="http://schemas.openxmlformats.org/officeDocument/2006/relationships/font" Target="fonts/HelveticaNeue-regular.fntdata"/><Relationship Id="rId11" Type="http://schemas.openxmlformats.org/officeDocument/2006/relationships/slide" Target="slides/slide6.xml"/><Relationship Id="rId33" Type="http://schemas.openxmlformats.org/officeDocument/2006/relationships/font" Target="fonts/HelveticaNeue-boldItalic.fntdata"/><Relationship Id="rId10" Type="http://schemas.openxmlformats.org/officeDocument/2006/relationships/slide" Target="slides/slide5.xml"/><Relationship Id="rId32" Type="http://schemas.openxmlformats.org/officeDocument/2006/relationships/font" Target="fonts/HelveticaNeue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e71e3a195_4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de71e3a195_4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5f4c17aa0_0_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d5f4c17aa0_0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e71e3a195_0_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e71e3a195_0_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e71e3a195_4_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de71e3a195_4_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e71e3a195_4_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de71e3a195_4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e71e3a195_4_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de71e3a195_4_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e71e3a195_4_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de71e3a195_4_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e71e3a195_4_8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de71e3a195_4_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e71e3a195_4_9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de71e3a195_4_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e71e3a195_4_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de71e3a195_4_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e71e3a195_4_1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de71e3a195_4_1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e71e3a195_4_1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de71e3a195_4_1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e71e3a195_4_1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de71e3a195_4_1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e71e3a195_4_1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de71e3a195_4_1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e71e3a195_4_1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7251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7" name="Google Shape;237;g3de71e3a195_4_1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e71e3a195_4_1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7251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6" name="Google Shape;246;g3de71e3a195_4_1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e71e3a195_4_17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de71e3a195_4_1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5bdbc3ad3_0_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d5bdbc3ad3_0_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5bdbc3ad3_0_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d5bdbc3ad3_0_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Photo Alt" showMasterSp="0" type="tx">
  <p:cSld name="TITLE_AND_BODY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/>
          <p:nvPr>
            <p:ph idx="2" type="pic"/>
          </p:nvPr>
        </p:nvSpPr>
        <p:spPr>
          <a:xfrm>
            <a:off x="9626600" y="-1"/>
            <a:ext cx="21901492" cy="13716001"/>
          </a:xfrm>
          <a:prstGeom prst="rect">
            <a:avLst/>
          </a:prstGeom>
          <a:noFill/>
          <a:ln>
            <a:noFill/>
          </a:ln>
        </p:spPr>
      </p:sp>
      <p:sp>
        <p:nvSpPr>
          <p:cNvPr id="13" name="Google Shape;13;p13"/>
          <p:cNvSpPr txBox="1"/>
          <p:nvPr>
            <p:ph idx="1" type="body"/>
          </p:nvPr>
        </p:nvSpPr>
        <p:spPr>
          <a:xfrm>
            <a:off x="571500" y="12269258"/>
            <a:ext cx="11049000" cy="555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b="1"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type="title"/>
          </p:nvPr>
        </p:nvSpPr>
        <p:spPr>
          <a:xfrm>
            <a:off x="571500" y="4770137"/>
            <a:ext cx="11049000" cy="7036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0"/>
              <a:buFont typeface="Arial"/>
              <a:buNone/>
              <a:defRPr sz="15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400">
                <a:solidFill>
                  <a:srgbClr val="757575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2400">
                <a:solidFill>
                  <a:srgbClr val="757575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2400">
                <a:solidFill>
                  <a:srgbClr val="757575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2400">
                <a:solidFill>
                  <a:srgbClr val="757575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2400">
                <a:solidFill>
                  <a:srgbClr val="757575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2400">
                <a:solidFill>
                  <a:srgbClr val="757575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2400">
                <a:solidFill>
                  <a:srgbClr val="757575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2400">
                <a:solidFill>
                  <a:srgbClr val="757575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2400">
                <a:solidFill>
                  <a:srgbClr val="757575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4"/>
          <p:cNvSpPr txBox="1"/>
          <p:nvPr>
            <p:ph type="ctrTitle"/>
          </p:nvPr>
        </p:nvSpPr>
        <p:spPr>
          <a:xfrm>
            <a:off x="3048000" y="2244726"/>
            <a:ext cx="18288000" cy="477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Play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" type="subTitle"/>
          </p:nvPr>
        </p:nvSpPr>
        <p:spPr>
          <a:xfrm>
            <a:off x="3048000" y="7204076"/>
            <a:ext cx="18288000" cy="33115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/>
        </p:txBody>
      </p:sp>
      <p:sp>
        <p:nvSpPr>
          <p:cNvPr id="19" name="Google Shape;19;p14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" type="body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Play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" type="body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4000"/>
              <a:buNone/>
              <a:defRPr sz="4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36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200"/>
              <a:buNone/>
              <a:defRPr sz="3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200"/>
              <a:buNone/>
              <a:defRPr sz="3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200"/>
              <a:buNone/>
              <a:defRPr sz="3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200"/>
              <a:buNone/>
              <a:defRPr sz="3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200"/>
              <a:buNone/>
              <a:defRPr sz="3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200"/>
              <a:buNone/>
              <a:defRPr sz="3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1" name="Google Shape;31;p16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" type="body"/>
          </p:nvPr>
        </p:nvSpPr>
        <p:spPr>
          <a:xfrm>
            <a:off x="1676400" y="3651250"/>
            <a:ext cx="10363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2" type="body"/>
          </p:nvPr>
        </p:nvSpPr>
        <p:spPr>
          <a:xfrm>
            <a:off x="12344400" y="3651250"/>
            <a:ext cx="10363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" type="body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9pPr>
          </a:lstStyle>
          <a:p/>
        </p:txBody>
      </p:sp>
      <p:sp>
        <p:nvSpPr>
          <p:cNvPr id="44" name="Google Shape;44;p18"/>
          <p:cNvSpPr txBox="1"/>
          <p:nvPr>
            <p:ph idx="2" type="body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3" type="body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9pPr>
          </a:lstStyle>
          <a:p/>
        </p:txBody>
      </p:sp>
      <p:sp>
        <p:nvSpPr>
          <p:cNvPr id="46" name="Google Shape;46;p18"/>
          <p:cNvSpPr txBox="1"/>
          <p:nvPr>
            <p:ph idx="4" type="body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1"/>
          <p:cNvSpPr txBox="1"/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idx="1" type="body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350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1pPr>
            <a:lvl2pPr indent="-584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Char char="•"/>
              <a:defRPr sz="5600"/>
            </a:lvl2pPr>
            <a:lvl3pPr indent="-533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3pPr>
            <a:lvl4pPr indent="-482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482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6pPr>
            <a:lvl7pPr indent="-482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7pPr>
            <a:lvl8pPr indent="-482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8pPr>
            <a:lvl9pPr indent="-482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9pPr>
          </a:lstStyle>
          <a:p/>
        </p:txBody>
      </p:sp>
      <p:sp>
        <p:nvSpPr>
          <p:cNvPr id="62" name="Google Shape;62;p21"/>
          <p:cNvSpPr txBox="1"/>
          <p:nvPr>
            <p:ph idx="2" type="body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63" name="Google Shape;63;p21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1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2"/>
          <p:cNvSpPr txBox="1"/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2"/>
          <p:cNvSpPr/>
          <p:nvPr>
            <p:ph idx="2" type="pic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2"/>
          <p:cNvSpPr txBox="1"/>
          <p:nvPr>
            <p:ph idx="1" type="body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2286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indent="-2286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indent="-2286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22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3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" type="body"/>
          </p:nvPr>
        </p:nvSpPr>
        <p:spPr>
          <a:xfrm rot="5400000">
            <a:off x="7840662" y="-2513012"/>
            <a:ext cx="8702676" cy="210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4"/>
          <p:cNvSpPr txBox="1"/>
          <p:nvPr>
            <p:ph type="title"/>
          </p:nvPr>
        </p:nvSpPr>
        <p:spPr>
          <a:xfrm rot="5400000">
            <a:off x="14266862" y="3913188"/>
            <a:ext cx="11623676" cy="52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" type="body"/>
          </p:nvPr>
        </p:nvSpPr>
        <p:spPr>
          <a:xfrm rot="5400000">
            <a:off x="3598862" y="-1192212"/>
            <a:ext cx="11623676" cy="15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4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Play"/>
              <a:buNone/>
              <a:defRPr b="0" i="0" sz="8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84200" lvl="0" marL="457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533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826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572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572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572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572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572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572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0"/>
            <a:ext cx="24377904" cy="1371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>
            <p:ph type="title"/>
          </p:nvPr>
        </p:nvSpPr>
        <p:spPr>
          <a:xfrm>
            <a:off x="753961" y="900375"/>
            <a:ext cx="10413000" cy="3461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Play"/>
              <a:buNone/>
            </a:pPr>
            <a:r>
              <a:rPr b="1" lang="en-US" sz="7800">
                <a:solidFill>
                  <a:schemeClr val="dk1"/>
                </a:solidFill>
              </a:rPr>
              <a:t>Predicting </a:t>
            </a:r>
            <a:r>
              <a:rPr b="1" lang="en-US" sz="7800">
                <a:solidFill>
                  <a:schemeClr val="dk1"/>
                </a:solidFill>
              </a:rPr>
              <a:t>s</a:t>
            </a:r>
            <a:r>
              <a:rPr b="1" lang="en-US" sz="7800">
                <a:solidFill>
                  <a:schemeClr val="dk1"/>
                </a:solidFill>
              </a:rPr>
              <a:t>everity of </a:t>
            </a:r>
            <a:r>
              <a:rPr b="1" lang="en-US" sz="7800">
                <a:solidFill>
                  <a:schemeClr val="dk1"/>
                </a:solidFill>
              </a:rPr>
              <a:t>a</a:t>
            </a:r>
            <a:r>
              <a:rPr b="1" lang="en-US" sz="7800">
                <a:solidFill>
                  <a:schemeClr val="dk1"/>
                </a:solidFill>
              </a:rPr>
              <a:t>ccidents based on </a:t>
            </a:r>
            <a:r>
              <a:rPr b="1" lang="en-US" sz="7800">
                <a:solidFill>
                  <a:schemeClr val="dk1"/>
                </a:solidFill>
              </a:rPr>
              <a:t>t</a:t>
            </a:r>
            <a:r>
              <a:rPr b="1" lang="en-US" sz="7800">
                <a:solidFill>
                  <a:schemeClr val="dk1"/>
                </a:solidFill>
              </a:rPr>
              <a:t>raffic </a:t>
            </a:r>
            <a:r>
              <a:rPr b="1" lang="en-US" sz="7800">
                <a:solidFill>
                  <a:schemeClr val="dk1"/>
                </a:solidFill>
              </a:rPr>
              <a:t>c</a:t>
            </a:r>
            <a:r>
              <a:rPr b="1" lang="en-US" sz="7800">
                <a:solidFill>
                  <a:schemeClr val="dk1"/>
                </a:solidFill>
              </a:rPr>
              <a:t>onditions</a:t>
            </a:r>
            <a:endParaRPr sz="7800">
              <a:solidFill>
                <a:schemeClr val="dk1"/>
              </a:solidFill>
            </a:endParaRPr>
          </a:p>
        </p:txBody>
      </p:sp>
      <p:sp>
        <p:nvSpPr>
          <p:cNvPr id="91" name="Google Shape;91;p1"/>
          <p:cNvSpPr/>
          <p:nvPr/>
        </p:nvSpPr>
        <p:spPr>
          <a:xfrm flipH="1" rot="10800000">
            <a:off x="753958" y="4943082"/>
            <a:ext cx="8599932" cy="45263"/>
          </a:xfrm>
          <a:custGeom>
            <a:rect b="b" l="l" r="r" t="t"/>
            <a:pathLst>
              <a:path extrusionOk="0" fill="none" h="36576" w="6949440">
                <a:moveTo>
                  <a:pt x="0" y="0"/>
                </a:moveTo>
                <a:cubicBezTo>
                  <a:pt x="258497" y="9297"/>
                  <a:pt x="407807" y="-18405"/>
                  <a:pt x="625450" y="0"/>
                </a:cubicBezTo>
                <a:cubicBezTo>
                  <a:pt x="843093" y="18405"/>
                  <a:pt x="999015" y="-26184"/>
                  <a:pt x="1181405" y="0"/>
                </a:cubicBezTo>
                <a:cubicBezTo>
                  <a:pt x="1363796" y="26184"/>
                  <a:pt x="1683622" y="-2693"/>
                  <a:pt x="1945843" y="0"/>
                </a:cubicBezTo>
                <a:cubicBezTo>
                  <a:pt x="2208064" y="2693"/>
                  <a:pt x="2441799" y="25043"/>
                  <a:pt x="2710282" y="0"/>
                </a:cubicBezTo>
                <a:cubicBezTo>
                  <a:pt x="2978765" y="-25043"/>
                  <a:pt x="3067236" y="31163"/>
                  <a:pt x="3405226" y="0"/>
                </a:cubicBezTo>
                <a:cubicBezTo>
                  <a:pt x="3743216" y="-31163"/>
                  <a:pt x="3709212" y="-10243"/>
                  <a:pt x="3891686" y="0"/>
                </a:cubicBezTo>
                <a:cubicBezTo>
                  <a:pt x="4074160" y="10243"/>
                  <a:pt x="4289131" y="-21245"/>
                  <a:pt x="4656125" y="0"/>
                </a:cubicBezTo>
                <a:cubicBezTo>
                  <a:pt x="5023119" y="21245"/>
                  <a:pt x="4974341" y="-6180"/>
                  <a:pt x="5142586" y="0"/>
                </a:cubicBezTo>
                <a:cubicBezTo>
                  <a:pt x="5310831" y="6180"/>
                  <a:pt x="5410735" y="-3376"/>
                  <a:pt x="5629046" y="0"/>
                </a:cubicBezTo>
                <a:cubicBezTo>
                  <a:pt x="5847357" y="3376"/>
                  <a:pt x="6462655" y="40363"/>
                  <a:pt x="6949440" y="0"/>
                </a:cubicBezTo>
                <a:cubicBezTo>
                  <a:pt x="6950776" y="14036"/>
                  <a:pt x="6948002" y="18623"/>
                  <a:pt x="6949440" y="36576"/>
                </a:cubicBezTo>
                <a:cubicBezTo>
                  <a:pt x="6623462" y="17455"/>
                  <a:pt x="6369711" y="22107"/>
                  <a:pt x="6115507" y="36576"/>
                </a:cubicBezTo>
                <a:cubicBezTo>
                  <a:pt x="5861303" y="51045"/>
                  <a:pt x="5644171" y="52892"/>
                  <a:pt x="5420563" y="36576"/>
                </a:cubicBezTo>
                <a:cubicBezTo>
                  <a:pt x="5196955" y="20260"/>
                  <a:pt x="4970928" y="63872"/>
                  <a:pt x="4586630" y="36576"/>
                </a:cubicBezTo>
                <a:cubicBezTo>
                  <a:pt x="4202332" y="9280"/>
                  <a:pt x="4230352" y="42653"/>
                  <a:pt x="4030675" y="36576"/>
                </a:cubicBezTo>
                <a:cubicBezTo>
                  <a:pt x="3830999" y="30499"/>
                  <a:pt x="3610423" y="31125"/>
                  <a:pt x="3335731" y="36576"/>
                </a:cubicBezTo>
                <a:cubicBezTo>
                  <a:pt x="3061039" y="42027"/>
                  <a:pt x="2792562" y="38173"/>
                  <a:pt x="2501798" y="36576"/>
                </a:cubicBezTo>
                <a:cubicBezTo>
                  <a:pt x="2211034" y="34979"/>
                  <a:pt x="2068435" y="6707"/>
                  <a:pt x="1876349" y="36576"/>
                </a:cubicBezTo>
                <a:cubicBezTo>
                  <a:pt x="1684263" y="66445"/>
                  <a:pt x="1257330" y="29560"/>
                  <a:pt x="1042416" y="36576"/>
                </a:cubicBezTo>
                <a:cubicBezTo>
                  <a:pt x="827502" y="43592"/>
                  <a:pt x="333456" y="17904"/>
                  <a:pt x="0" y="36576"/>
                </a:cubicBezTo>
                <a:cubicBezTo>
                  <a:pt x="-44" y="24172"/>
                  <a:pt x="86" y="11981"/>
                  <a:pt x="0" y="0"/>
                </a:cubicBezTo>
                <a:close/>
              </a:path>
              <a:path extrusionOk="0" h="36576" w="6949440">
                <a:moveTo>
                  <a:pt x="0" y="0"/>
                </a:moveTo>
                <a:cubicBezTo>
                  <a:pt x="271875" y="-23518"/>
                  <a:pt x="381428" y="6804"/>
                  <a:pt x="555955" y="0"/>
                </a:cubicBezTo>
                <a:cubicBezTo>
                  <a:pt x="730483" y="-6804"/>
                  <a:pt x="978239" y="33438"/>
                  <a:pt x="1389888" y="0"/>
                </a:cubicBezTo>
                <a:cubicBezTo>
                  <a:pt x="1801537" y="-33438"/>
                  <a:pt x="1682936" y="6451"/>
                  <a:pt x="1876349" y="0"/>
                </a:cubicBezTo>
                <a:cubicBezTo>
                  <a:pt x="2069762" y="-6451"/>
                  <a:pt x="2227570" y="5351"/>
                  <a:pt x="2362810" y="0"/>
                </a:cubicBezTo>
                <a:cubicBezTo>
                  <a:pt x="2498050" y="-5351"/>
                  <a:pt x="2790947" y="32618"/>
                  <a:pt x="3057754" y="0"/>
                </a:cubicBezTo>
                <a:cubicBezTo>
                  <a:pt x="3324561" y="-32618"/>
                  <a:pt x="3460403" y="24807"/>
                  <a:pt x="3683203" y="0"/>
                </a:cubicBezTo>
                <a:cubicBezTo>
                  <a:pt x="3906003" y="-24807"/>
                  <a:pt x="4090944" y="3705"/>
                  <a:pt x="4447642" y="0"/>
                </a:cubicBezTo>
                <a:cubicBezTo>
                  <a:pt x="4804340" y="-3705"/>
                  <a:pt x="4787235" y="-26993"/>
                  <a:pt x="5003597" y="0"/>
                </a:cubicBezTo>
                <a:cubicBezTo>
                  <a:pt x="5219959" y="26993"/>
                  <a:pt x="5645855" y="23373"/>
                  <a:pt x="5837530" y="0"/>
                </a:cubicBezTo>
                <a:cubicBezTo>
                  <a:pt x="6029205" y="-23373"/>
                  <a:pt x="6619805" y="47868"/>
                  <a:pt x="6949440" y="0"/>
                </a:cubicBezTo>
                <a:cubicBezTo>
                  <a:pt x="6949742" y="16774"/>
                  <a:pt x="6948869" y="27779"/>
                  <a:pt x="6949440" y="36576"/>
                </a:cubicBezTo>
                <a:cubicBezTo>
                  <a:pt x="6803300" y="52771"/>
                  <a:pt x="6582007" y="36693"/>
                  <a:pt x="6393485" y="36576"/>
                </a:cubicBezTo>
                <a:cubicBezTo>
                  <a:pt x="6204963" y="36459"/>
                  <a:pt x="6002492" y="17516"/>
                  <a:pt x="5837530" y="36576"/>
                </a:cubicBezTo>
                <a:cubicBezTo>
                  <a:pt x="5672568" y="55636"/>
                  <a:pt x="5520546" y="27893"/>
                  <a:pt x="5212080" y="36576"/>
                </a:cubicBezTo>
                <a:cubicBezTo>
                  <a:pt x="4903614" y="45260"/>
                  <a:pt x="4838281" y="36158"/>
                  <a:pt x="4725619" y="36576"/>
                </a:cubicBezTo>
                <a:cubicBezTo>
                  <a:pt x="4612957" y="36994"/>
                  <a:pt x="4351697" y="27448"/>
                  <a:pt x="4100170" y="36576"/>
                </a:cubicBezTo>
                <a:cubicBezTo>
                  <a:pt x="3848643" y="45704"/>
                  <a:pt x="3746852" y="38176"/>
                  <a:pt x="3544214" y="36576"/>
                </a:cubicBezTo>
                <a:cubicBezTo>
                  <a:pt x="3341576" y="34976"/>
                  <a:pt x="2981167" y="39701"/>
                  <a:pt x="2710282" y="36576"/>
                </a:cubicBezTo>
                <a:cubicBezTo>
                  <a:pt x="2439397" y="33451"/>
                  <a:pt x="2228375" y="14959"/>
                  <a:pt x="1945843" y="36576"/>
                </a:cubicBezTo>
                <a:cubicBezTo>
                  <a:pt x="1663311" y="58193"/>
                  <a:pt x="1580554" y="16658"/>
                  <a:pt x="1459382" y="36576"/>
                </a:cubicBezTo>
                <a:cubicBezTo>
                  <a:pt x="1338210" y="56494"/>
                  <a:pt x="1010083" y="48133"/>
                  <a:pt x="764438" y="36576"/>
                </a:cubicBezTo>
                <a:cubicBezTo>
                  <a:pt x="518793" y="25019"/>
                  <a:pt x="340449" y="41120"/>
                  <a:pt x="0" y="36576"/>
                </a:cubicBezTo>
                <a:cubicBezTo>
                  <a:pt x="566" y="19755"/>
                  <a:pt x="-1" y="873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>
            <p:ph idx="1" type="body"/>
          </p:nvPr>
        </p:nvSpPr>
        <p:spPr>
          <a:xfrm>
            <a:off x="753961" y="7895724"/>
            <a:ext cx="8487300" cy="4731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>
                <a:solidFill>
                  <a:schemeClr val="dk1"/>
                </a:solidFill>
              </a:rPr>
              <a:t>YAU CHUN WING 	(1155251820)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0" lang="en-US" sz="4000">
                <a:solidFill>
                  <a:schemeClr val="dk1"/>
                </a:solidFill>
              </a:rPr>
              <a:t>KWOK KAI YIN 			(1155251560)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0" lang="en-US" sz="4000">
                <a:solidFill>
                  <a:schemeClr val="dk1"/>
                </a:solidFill>
              </a:rPr>
              <a:t>HO KA HO 					(1155246984)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0" lang="en-US" sz="4000">
                <a:solidFill>
                  <a:schemeClr val="dk1"/>
                </a:solidFill>
              </a:rPr>
              <a:t>NG CHING WAI 		(1155253020)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0" lang="en-US" sz="4000">
                <a:solidFill>
                  <a:schemeClr val="dk1"/>
                </a:solidFill>
              </a:rPr>
              <a:t>TANG SIU WAN 		(1155143082)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0" lang="en-US" sz="4000">
                <a:solidFill>
                  <a:schemeClr val="dk1"/>
                </a:solidFill>
              </a:rPr>
              <a:t>CHAN CHI CHIU 		(1155253025) </a:t>
            </a:r>
            <a:endParaRPr sz="4400">
              <a:solidFill>
                <a:schemeClr val="dk1"/>
              </a:solidFill>
            </a:endParaRPr>
          </a:p>
        </p:txBody>
      </p:sp>
      <p:pic>
        <p:nvPicPr>
          <p:cNvPr id="93" name="Google Shape;93;p1" title="b8477eda-c324-4b3b-b99c-ad5a8876d518_4da316da.jpg"/>
          <p:cNvPicPr preferRelativeResize="0"/>
          <p:nvPr/>
        </p:nvPicPr>
        <p:blipFill rotWithShape="1">
          <a:blip r:embed="rId3">
            <a:alphaModFix/>
          </a:blip>
          <a:srcRect b="0" l="18362" r="18362" t="0"/>
          <a:stretch/>
        </p:blipFill>
        <p:spPr>
          <a:xfrm>
            <a:off x="10623404" y="10"/>
            <a:ext cx="13757550" cy="13716000"/>
          </a:xfrm>
          <a:custGeom>
            <a:rect b="b" l="l" r="r" t="t"/>
            <a:pathLst>
              <a:path extrusionOk="0" h="6858000" w="6878775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4914600" cy="13716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156450" y="201050"/>
            <a:ext cx="4601700" cy="4557000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5200" u="none" cap="none" strike="noStrike">
              <a:solidFill>
                <a:srgbClr val="FFFFFF"/>
              </a:solidFill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5476329" y="710307"/>
            <a:ext cx="18215100" cy="12432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8420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Char char="●"/>
            </a:pPr>
            <a:r>
              <a:rPr b="1" lang="en-US" sz="5600">
                <a:solidFill>
                  <a:schemeClr val="dk1"/>
                </a:solidFill>
              </a:rPr>
              <a:t>Predictive Modeling</a:t>
            </a:r>
            <a:r>
              <a:rPr lang="en-US" sz="5600">
                <a:solidFill>
                  <a:schemeClr val="dk1"/>
                </a:solidFill>
              </a:rPr>
              <a:t>: Develop robust models to classify accident severity levels using traffic environment factors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1"/>
              </a:solidFill>
            </a:endParaRPr>
          </a:p>
          <a:p>
            <a:pPr indent="-58420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Char char="●"/>
            </a:pPr>
            <a:r>
              <a:rPr b="1" lang="en-US" sz="5600">
                <a:solidFill>
                  <a:schemeClr val="dk1"/>
                </a:solidFill>
              </a:rPr>
              <a:t>Determinant Analysis</a:t>
            </a:r>
            <a:r>
              <a:rPr lang="en-US" sz="5600">
                <a:solidFill>
                  <a:schemeClr val="dk1"/>
                </a:solidFill>
              </a:rPr>
              <a:t>: Identify and quantify the most influential variables contributing to accident severity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1"/>
              </a:solidFill>
            </a:endParaRPr>
          </a:p>
          <a:p>
            <a:pPr indent="-58420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Char char="●"/>
            </a:pPr>
            <a:r>
              <a:rPr b="1" lang="en-US" sz="5600">
                <a:solidFill>
                  <a:schemeClr val="dk1"/>
                </a:solidFill>
              </a:rPr>
              <a:t>Model Comparison</a:t>
            </a:r>
            <a:r>
              <a:rPr lang="en-US" sz="5600">
                <a:solidFill>
                  <a:schemeClr val="dk1"/>
                </a:solidFill>
              </a:rPr>
              <a:t>: Evaluate the trade-offs between interpretability (statistical models) and predictive accuracy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1"/>
              </a:solidFill>
            </a:endParaRPr>
          </a:p>
          <a:p>
            <a:pPr indent="-58420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Char char="●"/>
            </a:pPr>
            <a:r>
              <a:rPr b="1" lang="en-US" sz="5600">
                <a:solidFill>
                  <a:schemeClr val="dk1"/>
                </a:solidFill>
              </a:rPr>
              <a:t>Policy Insights</a:t>
            </a:r>
            <a:r>
              <a:rPr lang="en-US" sz="5600">
                <a:solidFill>
                  <a:schemeClr val="dk1"/>
                </a:solidFill>
              </a:rPr>
              <a:t>: Translate findings into actionable recommendations for traffic safety policies, road design improvements, and driver education programs</a:t>
            </a:r>
            <a:endParaRPr sz="5600">
              <a:solidFill>
                <a:schemeClr val="dk1"/>
              </a:solidFill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89700" y="734529"/>
            <a:ext cx="4735200" cy="3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0">
                <a:solidFill>
                  <a:schemeClr val="lt1"/>
                </a:solidFill>
              </a:rPr>
              <a:t>Project Overview &amp; Objective</a:t>
            </a:r>
            <a:endParaRPr sz="6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e71e3a195_4_10"/>
          <p:cNvSpPr/>
          <p:nvPr/>
        </p:nvSpPr>
        <p:spPr>
          <a:xfrm>
            <a:off x="0" y="0"/>
            <a:ext cx="4914600" cy="13716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de71e3a195_4_10"/>
          <p:cNvSpPr/>
          <p:nvPr/>
        </p:nvSpPr>
        <p:spPr>
          <a:xfrm>
            <a:off x="156450" y="201050"/>
            <a:ext cx="4601700" cy="4557000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5200" u="none" cap="none" strike="noStrike">
              <a:solidFill>
                <a:srgbClr val="FFFFFF"/>
              </a:solidFill>
            </a:endParaRPr>
          </a:p>
        </p:txBody>
      </p:sp>
      <p:sp>
        <p:nvSpPr>
          <p:cNvPr id="108" name="Google Shape;108;g3de71e3a195_4_10"/>
          <p:cNvSpPr txBox="1"/>
          <p:nvPr/>
        </p:nvSpPr>
        <p:spPr>
          <a:xfrm>
            <a:off x="89700" y="1142743"/>
            <a:ext cx="4735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Data</a:t>
            </a:r>
            <a:endParaRPr sz="7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Collection</a:t>
            </a:r>
            <a:endParaRPr sz="7000">
              <a:solidFill>
                <a:schemeClr val="lt1"/>
              </a:solidFill>
            </a:endParaRPr>
          </a:p>
        </p:txBody>
      </p:sp>
      <p:sp>
        <p:nvSpPr>
          <p:cNvPr id="109" name="Google Shape;109;g3de71e3a195_4_10"/>
          <p:cNvSpPr txBox="1"/>
          <p:nvPr/>
        </p:nvSpPr>
        <p:spPr>
          <a:xfrm>
            <a:off x="5476329" y="710307"/>
            <a:ext cx="18215100" cy="12432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8420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Char char="●"/>
            </a:pPr>
            <a:r>
              <a:rPr b="1" lang="en-US" sz="5600">
                <a:solidFill>
                  <a:schemeClr val="dk1"/>
                </a:solidFill>
              </a:rPr>
              <a:t>Source: </a:t>
            </a:r>
            <a:r>
              <a:rPr lang="en-US" sz="5600">
                <a:solidFill>
                  <a:schemeClr val="dk1"/>
                </a:solidFill>
              </a:rPr>
              <a:t>Hong Kong Transport Department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1"/>
              </a:solidFill>
            </a:endParaRPr>
          </a:p>
          <a:p>
            <a:pPr indent="-58420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Char char="●"/>
            </a:pPr>
            <a:r>
              <a:rPr b="1" lang="en-US" sz="5600">
                <a:solidFill>
                  <a:schemeClr val="dk1"/>
                </a:solidFill>
              </a:rPr>
              <a:t>Datasets: </a:t>
            </a:r>
            <a:endParaRPr b="1" sz="5600">
              <a:solidFill>
                <a:schemeClr val="dk1"/>
              </a:solidFill>
            </a:endParaRPr>
          </a:p>
          <a:p>
            <a:pPr indent="-58420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AutoNum type="arabicPeriod"/>
            </a:pPr>
            <a:r>
              <a:rPr lang="en-US" sz="5600">
                <a:solidFill>
                  <a:schemeClr val="dk1"/>
                </a:solidFill>
              </a:rPr>
              <a:t>Road Traffic Accident Database (publicly available, downloaded from Transport Department website)</a:t>
            </a:r>
            <a:endParaRPr sz="5600">
              <a:solidFill>
                <a:schemeClr val="dk1"/>
              </a:solidFill>
            </a:endParaRPr>
          </a:p>
          <a:p>
            <a:pPr indent="-58420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AutoNum type="arabicPeriod"/>
            </a:pPr>
            <a:r>
              <a:rPr lang="en-US" sz="5600">
                <a:solidFill>
                  <a:schemeClr val="dk1"/>
                </a:solidFill>
              </a:rPr>
              <a:t>Supplementary information obtained via formal requests under the Code on Access to Information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1"/>
              </a:solidFill>
            </a:endParaRPr>
          </a:p>
          <a:p>
            <a:pPr indent="-58420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Char char="●"/>
            </a:pPr>
            <a:r>
              <a:rPr b="1" lang="en-US" sz="5600">
                <a:solidFill>
                  <a:schemeClr val="dk1"/>
                </a:solidFill>
              </a:rPr>
              <a:t>Scope: </a:t>
            </a:r>
            <a:r>
              <a:rPr lang="en-US" sz="5600">
                <a:solidFill>
                  <a:schemeClr val="dk1"/>
                </a:solidFill>
              </a:rPr>
              <a:t>Analysis limited to 2024 accident records</a:t>
            </a:r>
            <a:endParaRPr sz="5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5f4c17aa0_0_17"/>
          <p:cNvSpPr/>
          <p:nvPr/>
        </p:nvSpPr>
        <p:spPr>
          <a:xfrm>
            <a:off x="0" y="0"/>
            <a:ext cx="4914600" cy="13716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d5f4c17aa0_0_17"/>
          <p:cNvSpPr/>
          <p:nvPr/>
        </p:nvSpPr>
        <p:spPr>
          <a:xfrm>
            <a:off x="156450" y="201050"/>
            <a:ext cx="4601700" cy="4557000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5200" u="none" cap="none" strike="noStrike">
              <a:solidFill>
                <a:srgbClr val="FFFFFF"/>
              </a:solidFill>
            </a:endParaRPr>
          </a:p>
        </p:txBody>
      </p:sp>
      <p:sp>
        <p:nvSpPr>
          <p:cNvPr id="116" name="Google Shape;116;g3d5f4c17aa0_0_17"/>
          <p:cNvSpPr txBox="1"/>
          <p:nvPr/>
        </p:nvSpPr>
        <p:spPr>
          <a:xfrm>
            <a:off x="89700" y="1142743"/>
            <a:ext cx="4735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Data</a:t>
            </a:r>
            <a:endParaRPr sz="7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Collection</a:t>
            </a:r>
            <a:endParaRPr sz="7000">
              <a:solidFill>
                <a:schemeClr val="lt1"/>
              </a:solidFill>
            </a:endParaRPr>
          </a:p>
        </p:txBody>
      </p:sp>
      <p:sp>
        <p:nvSpPr>
          <p:cNvPr id="117" name="Google Shape;117;g3d5f4c17aa0_0_17"/>
          <p:cNvSpPr txBox="1"/>
          <p:nvPr/>
        </p:nvSpPr>
        <p:spPr>
          <a:xfrm>
            <a:off x="5476329" y="710307"/>
            <a:ext cx="18215100" cy="12432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8420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Char char="●"/>
            </a:pPr>
            <a:r>
              <a:rPr b="1" lang="en-US" sz="5600">
                <a:solidFill>
                  <a:schemeClr val="dk1"/>
                </a:solidFill>
              </a:rPr>
              <a:t>Missing Values: </a:t>
            </a:r>
            <a:r>
              <a:rPr lang="en-US" sz="5600">
                <a:solidFill>
                  <a:schemeClr val="dk1"/>
                </a:solidFill>
              </a:rPr>
              <a:t>Checked for incomplete records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1"/>
              </a:solidFill>
            </a:endParaRPr>
          </a:p>
          <a:p>
            <a:pPr indent="-58420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Char char="●"/>
            </a:pPr>
            <a:r>
              <a:rPr b="1" lang="en-US" sz="5600">
                <a:solidFill>
                  <a:schemeClr val="dk1"/>
                </a:solidFill>
              </a:rPr>
              <a:t>Data Consistency: </a:t>
            </a:r>
            <a:r>
              <a:rPr lang="en-US" sz="5600">
                <a:solidFill>
                  <a:schemeClr val="dk1"/>
                </a:solidFill>
              </a:rPr>
              <a:t>Standardized variable formats (date/time, grouped categories)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1"/>
              </a:solidFill>
            </a:endParaRPr>
          </a:p>
          <a:p>
            <a:pPr indent="-58420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Char char="●"/>
            </a:pPr>
            <a:r>
              <a:rPr b="1" lang="en-US" sz="5600">
                <a:solidFill>
                  <a:schemeClr val="dk1"/>
                </a:solidFill>
              </a:rPr>
              <a:t>Feature Preparation: </a:t>
            </a:r>
            <a:r>
              <a:rPr lang="en-US" sz="5600">
                <a:solidFill>
                  <a:schemeClr val="dk1"/>
                </a:solidFill>
              </a:rPr>
              <a:t>Normalized calculated variables for machine learning models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1"/>
              </a:solidFill>
            </a:endParaRPr>
          </a:p>
          <a:p>
            <a:pPr indent="-58420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Char char="●"/>
            </a:pPr>
            <a:r>
              <a:rPr b="1" lang="en-US" sz="5600">
                <a:solidFill>
                  <a:schemeClr val="dk1"/>
                </a:solidFill>
              </a:rPr>
              <a:t>Dummy variables: </a:t>
            </a:r>
            <a:r>
              <a:rPr lang="en-US" sz="5600">
                <a:solidFill>
                  <a:schemeClr val="dk1"/>
                </a:solidFill>
              </a:rPr>
              <a:t>Create dummy variables for different types of vehicles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e71e3a195_0_54"/>
          <p:cNvSpPr/>
          <p:nvPr/>
        </p:nvSpPr>
        <p:spPr>
          <a:xfrm>
            <a:off x="0" y="0"/>
            <a:ext cx="4914600" cy="13716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de71e3a195_0_54"/>
          <p:cNvSpPr/>
          <p:nvPr/>
        </p:nvSpPr>
        <p:spPr>
          <a:xfrm>
            <a:off x="156450" y="201050"/>
            <a:ext cx="4601700" cy="4557000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5200" u="none" cap="none" strike="noStrike">
              <a:solidFill>
                <a:srgbClr val="FFFFFF"/>
              </a:solidFill>
            </a:endParaRPr>
          </a:p>
        </p:txBody>
      </p:sp>
      <p:sp>
        <p:nvSpPr>
          <p:cNvPr id="124" name="Google Shape;124;g3de71e3a195_0_54"/>
          <p:cNvSpPr txBox="1"/>
          <p:nvPr/>
        </p:nvSpPr>
        <p:spPr>
          <a:xfrm>
            <a:off x="5144025" y="8349950"/>
            <a:ext cx="18973200" cy="5366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334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Char char="●"/>
            </a:pPr>
            <a:r>
              <a:rPr b="1" lang="en-US" sz="4800">
                <a:solidFill>
                  <a:schemeClr val="dk1"/>
                </a:solidFill>
              </a:rPr>
              <a:t>Missing driver age and year of manufacture of vehicles: </a:t>
            </a:r>
            <a:r>
              <a:rPr lang="en-US" sz="4800">
                <a:solidFill>
                  <a:schemeClr val="dk1"/>
                </a:solidFill>
              </a:rPr>
              <a:t>median age of each vehicle type</a:t>
            </a:r>
            <a:endParaRPr sz="4800">
              <a:solidFill>
                <a:schemeClr val="dk1"/>
              </a:solidFill>
            </a:endParaRPr>
          </a:p>
          <a:p>
            <a:pPr indent="-533400" lvl="0" marL="9144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●"/>
            </a:pPr>
            <a:r>
              <a:rPr b="1" lang="en-US" sz="4800">
                <a:solidFill>
                  <a:schemeClr val="dk1"/>
                </a:solidFill>
              </a:rPr>
              <a:t>Rain and weather:</a:t>
            </a:r>
            <a:r>
              <a:rPr lang="en-US" sz="4800">
                <a:solidFill>
                  <a:schemeClr val="dk1"/>
                </a:solidFill>
              </a:rPr>
              <a:t> Based on rain and weather conditions on same date and time slot if available</a:t>
            </a:r>
            <a:endParaRPr sz="4800">
              <a:solidFill>
                <a:schemeClr val="dk1"/>
              </a:solidFill>
            </a:endParaRPr>
          </a:p>
          <a:p>
            <a:pPr indent="-533400" lvl="0" marL="9144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●"/>
            </a:pPr>
            <a:r>
              <a:rPr b="1" lang="en-US" sz="4800">
                <a:solidFill>
                  <a:schemeClr val="dk1"/>
                </a:solidFill>
              </a:rPr>
              <a:t>Natural light:</a:t>
            </a:r>
            <a:r>
              <a:rPr lang="en-US" sz="4800">
                <a:solidFill>
                  <a:schemeClr val="dk1"/>
                </a:solidFill>
              </a:rPr>
              <a:t> Based on the majority of </a:t>
            </a:r>
            <a:r>
              <a:rPr lang="en-US" sz="4800">
                <a:solidFill>
                  <a:schemeClr val="dk1"/>
                </a:solidFill>
              </a:rPr>
              <a:t>occurrences of the corresponding time slot</a:t>
            </a:r>
            <a:endParaRPr sz="4800">
              <a:solidFill>
                <a:schemeClr val="dk1"/>
              </a:solidFill>
            </a:endParaRPr>
          </a:p>
        </p:txBody>
      </p:sp>
      <p:pic>
        <p:nvPicPr>
          <p:cNvPr id="125" name="Google Shape;125;g3de71e3a195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4025" y="190729"/>
            <a:ext cx="10392225" cy="828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de71e3a195_0_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71329" y="705372"/>
            <a:ext cx="8581100" cy="53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de71e3a195_0_54"/>
          <p:cNvSpPr txBox="1"/>
          <p:nvPr/>
        </p:nvSpPr>
        <p:spPr>
          <a:xfrm>
            <a:off x="89700" y="1142743"/>
            <a:ext cx="4735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Data</a:t>
            </a:r>
            <a:endParaRPr sz="7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Collection</a:t>
            </a:r>
            <a:endParaRPr sz="7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e71e3a195_4_23"/>
          <p:cNvSpPr/>
          <p:nvPr/>
        </p:nvSpPr>
        <p:spPr>
          <a:xfrm>
            <a:off x="0" y="0"/>
            <a:ext cx="4914600" cy="13716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de71e3a195_4_23"/>
          <p:cNvSpPr/>
          <p:nvPr/>
        </p:nvSpPr>
        <p:spPr>
          <a:xfrm>
            <a:off x="156450" y="201050"/>
            <a:ext cx="4601700" cy="4557000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4700" u="none" cap="none" strike="noStrike">
              <a:solidFill>
                <a:srgbClr val="FFFFFF"/>
              </a:solidFill>
            </a:endParaRPr>
          </a:p>
        </p:txBody>
      </p:sp>
      <p:sp>
        <p:nvSpPr>
          <p:cNvPr id="134" name="Google Shape;134;g3de71e3a195_4_23"/>
          <p:cNvSpPr txBox="1"/>
          <p:nvPr/>
        </p:nvSpPr>
        <p:spPr>
          <a:xfrm>
            <a:off x="15475717" y="3458890"/>
            <a:ext cx="9048600" cy="5895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20700" lvl="0" marL="8001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Char char="●"/>
            </a:pPr>
            <a:r>
              <a:rPr b="1" lang="en-US" sz="4600">
                <a:solidFill>
                  <a:schemeClr val="dk1"/>
                </a:solidFill>
              </a:rPr>
              <a:t>Records:</a:t>
            </a:r>
            <a:r>
              <a:rPr b="1" lang="en-US" sz="4600">
                <a:solidFill>
                  <a:schemeClr val="dk1"/>
                </a:solidFill>
              </a:rPr>
              <a:t> </a:t>
            </a:r>
            <a:r>
              <a:rPr lang="en-US" sz="4600">
                <a:solidFill>
                  <a:schemeClr val="dk1"/>
                </a:solidFill>
              </a:rPr>
              <a:t>16485 x 25 </a:t>
            </a:r>
            <a:r>
              <a:rPr lang="en-US" sz="4600">
                <a:solidFill>
                  <a:schemeClr val="dk1"/>
                </a:solidFill>
              </a:rPr>
              <a:t>columns</a:t>
            </a:r>
            <a:endParaRPr sz="4600">
              <a:solidFill>
                <a:schemeClr val="dk1"/>
              </a:solidFill>
            </a:endParaRPr>
          </a:p>
          <a:p>
            <a:pPr indent="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dk1"/>
              </a:solidFill>
            </a:endParaRPr>
          </a:p>
          <a:p>
            <a:pPr indent="-520700" lvl="0" marL="8001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Char char="●"/>
            </a:pPr>
            <a:r>
              <a:rPr b="1" lang="en-US" sz="4600">
                <a:solidFill>
                  <a:schemeClr val="dk1"/>
                </a:solidFill>
              </a:rPr>
              <a:t>Categorical variables: </a:t>
            </a:r>
            <a:r>
              <a:rPr lang="en-US" sz="4600">
                <a:solidFill>
                  <a:schemeClr val="dk1"/>
                </a:solidFill>
              </a:rPr>
              <a:t>20</a:t>
            </a:r>
            <a:endParaRPr sz="4600">
              <a:solidFill>
                <a:schemeClr val="dk1"/>
              </a:solidFill>
            </a:endParaRPr>
          </a:p>
          <a:p>
            <a:pPr indent="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dk1"/>
              </a:solidFill>
            </a:endParaRPr>
          </a:p>
          <a:p>
            <a:pPr indent="-520700" lvl="0" marL="8001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Char char="●"/>
            </a:pPr>
            <a:r>
              <a:rPr b="1" lang="en-US" sz="4600">
                <a:solidFill>
                  <a:schemeClr val="dk1"/>
                </a:solidFill>
              </a:rPr>
              <a:t>Numerical variables:</a:t>
            </a:r>
            <a:r>
              <a:rPr lang="en-US" sz="4600">
                <a:solidFill>
                  <a:schemeClr val="dk1"/>
                </a:solidFill>
              </a:rPr>
              <a:t> 5 </a:t>
            </a:r>
            <a:endParaRPr sz="4600">
              <a:solidFill>
                <a:schemeClr val="dk1"/>
              </a:solidFill>
            </a:endParaRPr>
          </a:p>
          <a:p>
            <a:pPr indent="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dk1"/>
              </a:solidFill>
            </a:endParaRPr>
          </a:p>
          <a:p>
            <a:pPr indent="-520700" lvl="0" marL="8001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Char char="●"/>
            </a:pPr>
            <a:r>
              <a:rPr b="1" lang="en-US" sz="4600">
                <a:solidFill>
                  <a:schemeClr val="dk1"/>
                </a:solidFill>
              </a:rPr>
              <a:t>Target variables: </a:t>
            </a:r>
            <a:r>
              <a:rPr lang="en-US" sz="4600">
                <a:solidFill>
                  <a:schemeClr val="dk1"/>
                </a:solidFill>
              </a:rPr>
              <a:t>severity</a:t>
            </a:r>
            <a:endParaRPr sz="4600">
              <a:solidFill>
                <a:schemeClr val="dk1"/>
              </a:solidFill>
            </a:endParaRPr>
          </a:p>
          <a:p>
            <a:pPr indent="0" lvl="0" marL="8001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chemeClr val="dk1"/>
                </a:solidFill>
              </a:rPr>
              <a:t>(1 = Serious/ fatal, 0 = Slight)</a:t>
            </a:r>
            <a:endParaRPr sz="4600">
              <a:solidFill>
                <a:schemeClr val="dk1"/>
              </a:solidFill>
            </a:endParaRPr>
          </a:p>
        </p:txBody>
      </p:sp>
      <p:pic>
        <p:nvPicPr>
          <p:cNvPr id="135" name="Google Shape;135;g3de71e3a195_4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6400" y="308102"/>
            <a:ext cx="10379325" cy="1311214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36" name="Google Shape;136;g3de71e3a195_4_23"/>
          <p:cNvSpPr txBox="1"/>
          <p:nvPr/>
        </p:nvSpPr>
        <p:spPr>
          <a:xfrm>
            <a:off x="89700" y="1142743"/>
            <a:ext cx="47352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</a:rPr>
              <a:t>Exploratory Data Analysis</a:t>
            </a:r>
            <a:endParaRPr sz="6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e71e3a195_4_31"/>
          <p:cNvSpPr/>
          <p:nvPr/>
        </p:nvSpPr>
        <p:spPr>
          <a:xfrm>
            <a:off x="0" y="0"/>
            <a:ext cx="4914600" cy="13716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de71e3a195_4_31"/>
          <p:cNvSpPr/>
          <p:nvPr/>
        </p:nvSpPr>
        <p:spPr>
          <a:xfrm>
            <a:off x="156450" y="201050"/>
            <a:ext cx="4601700" cy="4557000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5200" u="none" cap="none" strike="noStrike">
              <a:solidFill>
                <a:srgbClr val="FFFFFF"/>
              </a:solidFill>
            </a:endParaRPr>
          </a:p>
        </p:txBody>
      </p:sp>
      <p:pic>
        <p:nvPicPr>
          <p:cNvPr id="143" name="Google Shape;143;g3de71e3a195_4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6775" y="360450"/>
            <a:ext cx="9062512" cy="712834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44" name="Google Shape;144;g3de71e3a195_4_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25650" y="531900"/>
            <a:ext cx="8884925" cy="662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45" name="Google Shape;145;g3de71e3a195_4_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4385" y="7093796"/>
            <a:ext cx="8884910" cy="662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46" name="Google Shape;146;g3de71e3a195_4_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125654" y="7123975"/>
            <a:ext cx="8884910" cy="656186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147" name="Google Shape;147;g3de71e3a195_4_31"/>
          <p:cNvSpPr txBox="1"/>
          <p:nvPr/>
        </p:nvSpPr>
        <p:spPr>
          <a:xfrm>
            <a:off x="89700" y="1333243"/>
            <a:ext cx="4735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Bivariate Analysis</a:t>
            </a:r>
            <a:endParaRPr sz="7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e71e3a195_4_39"/>
          <p:cNvSpPr/>
          <p:nvPr/>
        </p:nvSpPr>
        <p:spPr>
          <a:xfrm>
            <a:off x="0" y="0"/>
            <a:ext cx="4914600" cy="13716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de71e3a195_4_39"/>
          <p:cNvSpPr/>
          <p:nvPr/>
        </p:nvSpPr>
        <p:spPr>
          <a:xfrm>
            <a:off x="156450" y="201050"/>
            <a:ext cx="4601700" cy="4557000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5200" u="none" cap="none" strike="noStrike">
              <a:solidFill>
                <a:srgbClr val="FFFFFF"/>
              </a:solidFill>
            </a:endParaRPr>
          </a:p>
        </p:txBody>
      </p:sp>
      <p:pic>
        <p:nvPicPr>
          <p:cNvPr id="154" name="Google Shape;154;g3de71e3a195_4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4600" y="1271963"/>
            <a:ext cx="6387946" cy="514518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55" name="Google Shape;155;g3de71e3a195_4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45086" y="1254236"/>
            <a:ext cx="6387946" cy="518066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56" name="Google Shape;156;g3de71e3a195_4_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793379" y="1271978"/>
            <a:ext cx="6387946" cy="514518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57" name="Google Shape;157;g3de71e3a195_4_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63390" y="7189681"/>
            <a:ext cx="6290338" cy="514518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58" name="Google Shape;158;g3de71e3a195_4_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246865" y="7189681"/>
            <a:ext cx="6387946" cy="514518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59" name="Google Shape;159;g3de71e3a195_4_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842190" y="7189677"/>
            <a:ext cx="6290338" cy="514518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160" name="Google Shape;160;g3de71e3a195_4_39"/>
          <p:cNvSpPr txBox="1"/>
          <p:nvPr/>
        </p:nvSpPr>
        <p:spPr>
          <a:xfrm>
            <a:off x="89700" y="1333243"/>
            <a:ext cx="4735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Bivariate Analysis</a:t>
            </a:r>
            <a:endParaRPr sz="7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e71e3a195_4_57"/>
          <p:cNvSpPr/>
          <p:nvPr/>
        </p:nvSpPr>
        <p:spPr>
          <a:xfrm>
            <a:off x="0" y="0"/>
            <a:ext cx="4914600" cy="13716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de71e3a195_4_57"/>
          <p:cNvSpPr/>
          <p:nvPr/>
        </p:nvSpPr>
        <p:spPr>
          <a:xfrm>
            <a:off x="156450" y="201050"/>
            <a:ext cx="4601700" cy="4557000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5200" u="none" cap="none" strike="noStrike">
              <a:solidFill>
                <a:srgbClr val="FFFFFF"/>
              </a:solidFill>
            </a:endParaRPr>
          </a:p>
        </p:txBody>
      </p:sp>
      <p:pic>
        <p:nvPicPr>
          <p:cNvPr id="167" name="Google Shape;167;g3de71e3a195_4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8650" y="4455075"/>
            <a:ext cx="6361034" cy="4770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68" name="Google Shape;168;g3de71e3a195_4_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89701" y="4455075"/>
            <a:ext cx="6459740" cy="477077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69" name="Google Shape;169;g3de71e3a195_4_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49457" y="4471540"/>
            <a:ext cx="6174590" cy="473787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170" name="Google Shape;170;g3de71e3a195_4_57"/>
          <p:cNvSpPr txBox="1"/>
          <p:nvPr/>
        </p:nvSpPr>
        <p:spPr>
          <a:xfrm>
            <a:off x="89700" y="1333243"/>
            <a:ext cx="4735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Bivariate Analysis</a:t>
            </a:r>
            <a:endParaRPr sz="7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e71e3a195_4_84"/>
          <p:cNvSpPr/>
          <p:nvPr/>
        </p:nvSpPr>
        <p:spPr>
          <a:xfrm>
            <a:off x="0" y="0"/>
            <a:ext cx="4914600" cy="13716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de71e3a195_4_84"/>
          <p:cNvSpPr/>
          <p:nvPr/>
        </p:nvSpPr>
        <p:spPr>
          <a:xfrm>
            <a:off x="156450" y="201050"/>
            <a:ext cx="4601700" cy="4557000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5200" u="none" cap="none" strike="noStrike">
              <a:solidFill>
                <a:srgbClr val="FFFFFF"/>
              </a:solidFill>
            </a:endParaRPr>
          </a:p>
        </p:txBody>
      </p:sp>
      <p:sp>
        <p:nvSpPr>
          <p:cNvPr id="177" name="Google Shape;177;g3de71e3a195_4_84"/>
          <p:cNvSpPr txBox="1"/>
          <p:nvPr/>
        </p:nvSpPr>
        <p:spPr>
          <a:xfrm>
            <a:off x="89700" y="1333243"/>
            <a:ext cx="4735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Building Models</a:t>
            </a:r>
            <a:endParaRPr sz="7000">
              <a:solidFill>
                <a:schemeClr val="lt1"/>
              </a:solidFill>
            </a:endParaRPr>
          </a:p>
        </p:txBody>
      </p:sp>
      <p:sp>
        <p:nvSpPr>
          <p:cNvPr id="178" name="Google Shape;178;g3de71e3a195_4_84"/>
          <p:cNvSpPr txBox="1"/>
          <p:nvPr/>
        </p:nvSpPr>
        <p:spPr>
          <a:xfrm>
            <a:off x="5476325" y="710301"/>
            <a:ext cx="18215100" cy="4306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4610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Char char="●"/>
            </a:pPr>
            <a:r>
              <a:rPr b="1" lang="en-US" sz="5000">
                <a:solidFill>
                  <a:schemeClr val="dk1"/>
                </a:solidFill>
              </a:rPr>
              <a:t>Logistic Regression</a:t>
            </a:r>
            <a:endParaRPr b="1" sz="5000">
              <a:solidFill>
                <a:schemeClr val="dk1"/>
              </a:solidFill>
            </a:endParaRPr>
          </a:p>
          <a:p>
            <a:pPr indent="-546100" lvl="1" marL="18288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Char char="○"/>
            </a:pPr>
            <a:r>
              <a:rPr lang="en-US" sz="5000">
                <a:solidFill>
                  <a:schemeClr val="dk1"/>
                </a:solidFill>
              </a:rPr>
              <a:t>70% Training Data</a:t>
            </a:r>
            <a:endParaRPr sz="5000">
              <a:solidFill>
                <a:schemeClr val="dk1"/>
              </a:solidFill>
            </a:endParaRPr>
          </a:p>
          <a:p>
            <a:pPr indent="-546100" lvl="1" marL="18288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Char char="○"/>
            </a:pPr>
            <a:r>
              <a:rPr lang="en-US" sz="5000">
                <a:solidFill>
                  <a:schemeClr val="dk1"/>
                </a:solidFill>
              </a:rPr>
              <a:t>30% Testing Data</a:t>
            </a:r>
            <a:endParaRPr sz="5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</a:endParaRPr>
          </a:p>
          <a:p>
            <a:pPr indent="-54610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Char char="●"/>
            </a:pPr>
            <a:r>
              <a:rPr b="1" lang="en-US" sz="5000">
                <a:solidFill>
                  <a:schemeClr val="dk1"/>
                </a:solidFill>
              </a:rPr>
              <a:t>Class imbalance exists in the dataset</a:t>
            </a:r>
            <a:endParaRPr sz="5000">
              <a:solidFill>
                <a:schemeClr val="dk1"/>
              </a:solidFill>
            </a:endParaRPr>
          </a:p>
        </p:txBody>
      </p:sp>
      <p:pic>
        <p:nvPicPr>
          <p:cNvPr id="179" name="Google Shape;179;g3de71e3a195_4_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0200" y="4758048"/>
            <a:ext cx="12349225" cy="837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e71e3a195_4_93"/>
          <p:cNvSpPr/>
          <p:nvPr/>
        </p:nvSpPr>
        <p:spPr>
          <a:xfrm>
            <a:off x="0" y="0"/>
            <a:ext cx="4914600" cy="13716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de71e3a195_4_93"/>
          <p:cNvSpPr/>
          <p:nvPr/>
        </p:nvSpPr>
        <p:spPr>
          <a:xfrm>
            <a:off x="156450" y="201050"/>
            <a:ext cx="4601700" cy="4557000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5200" u="none" cap="none" strike="noStrike">
              <a:solidFill>
                <a:srgbClr val="FFFFFF"/>
              </a:solidFill>
            </a:endParaRPr>
          </a:p>
        </p:txBody>
      </p:sp>
      <p:pic>
        <p:nvPicPr>
          <p:cNvPr id="186" name="Google Shape;186;g3de71e3a195_4_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9975" y="7141500"/>
            <a:ext cx="11927811" cy="657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de71e3a195_4_93"/>
          <p:cNvSpPr txBox="1"/>
          <p:nvPr/>
        </p:nvSpPr>
        <p:spPr>
          <a:xfrm>
            <a:off x="89700" y="1006671"/>
            <a:ext cx="47352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</a:rPr>
              <a:t>Handling Class Imbalance</a:t>
            </a:r>
            <a:endParaRPr sz="6000">
              <a:solidFill>
                <a:schemeClr val="lt1"/>
              </a:solidFill>
            </a:endParaRPr>
          </a:p>
        </p:txBody>
      </p:sp>
      <p:sp>
        <p:nvSpPr>
          <p:cNvPr id="188" name="Google Shape;188;g3de71e3a195_4_93"/>
          <p:cNvSpPr txBox="1"/>
          <p:nvPr/>
        </p:nvSpPr>
        <p:spPr>
          <a:xfrm>
            <a:off x="5476325" y="710303"/>
            <a:ext cx="18215100" cy="6574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4610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Char char="●"/>
            </a:pPr>
            <a:r>
              <a:rPr b="1" lang="en-US" sz="5000">
                <a:solidFill>
                  <a:schemeClr val="dk1"/>
                </a:solidFill>
              </a:rPr>
              <a:t>Synthetic Minority Over-sampling Technique (SMOTE)</a:t>
            </a:r>
            <a:endParaRPr b="1" sz="5000">
              <a:solidFill>
                <a:schemeClr val="dk1"/>
              </a:solidFill>
            </a:endParaRPr>
          </a:p>
          <a:p>
            <a:pPr indent="-546100" lvl="1" marL="18288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Char char="○"/>
            </a:pPr>
            <a:r>
              <a:rPr lang="en-US" sz="5000">
                <a:solidFill>
                  <a:schemeClr val="dk1"/>
                </a:solidFill>
              </a:rPr>
              <a:t>Generate synthetic minority instances by interploation</a:t>
            </a:r>
            <a:endParaRPr sz="5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</a:endParaRPr>
          </a:p>
          <a:p>
            <a:pPr indent="-54610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Char char="●"/>
            </a:pPr>
            <a:r>
              <a:rPr b="1" lang="en-US" sz="5000">
                <a:solidFill>
                  <a:schemeClr val="dk1"/>
                </a:solidFill>
              </a:rPr>
              <a:t>Random Oversampling Model</a:t>
            </a:r>
            <a:endParaRPr b="1" sz="5000">
              <a:solidFill>
                <a:schemeClr val="dk1"/>
              </a:solidFill>
            </a:endParaRPr>
          </a:p>
          <a:p>
            <a:pPr indent="-546100" lvl="1" marL="18288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Char char="○"/>
            </a:pPr>
            <a:r>
              <a:rPr lang="en-US" sz="5000">
                <a:solidFill>
                  <a:schemeClr val="dk1"/>
                </a:solidFill>
              </a:rPr>
              <a:t>Duplicates existing minority instances at random</a:t>
            </a:r>
            <a:endParaRPr sz="5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</a:endParaRPr>
          </a:p>
          <a:p>
            <a:pPr indent="-54610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Char char="●"/>
            </a:pPr>
            <a:r>
              <a:rPr b="1" lang="en-US" sz="5000">
                <a:solidFill>
                  <a:schemeClr val="dk1"/>
                </a:solidFill>
              </a:rPr>
              <a:t>Ensemble Model</a:t>
            </a:r>
            <a:endParaRPr b="1" sz="5000">
              <a:solidFill>
                <a:schemeClr val="dk1"/>
              </a:solidFill>
            </a:endParaRPr>
          </a:p>
          <a:p>
            <a:pPr indent="-546100" lvl="1" marL="18288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Char char="○"/>
            </a:pPr>
            <a:r>
              <a:rPr lang="en-US" sz="5000">
                <a:solidFill>
                  <a:schemeClr val="dk1"/>
                </a:solidFill>
              </a:rPr>
              <a:t>Downsample the majority class</a:t>
            </a:r>
            <a:endParaRPr sz="5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e71e3a195_4_99"/>
          <p:cNvSpPr/>
          <p:nvPr/>
        </p:nvSpPr>
        <p:spPr>
          <a:xfrm>
            <a:off x="0" y="0"/>
            <a:ext cx="4914600" cy="13716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de71e3a195_4_99"/>
          <p:cNvSpPr/>
          <p:nvPr/>
        </p:nvSpPr>
        <p:spPr>
          <a:xfrm>
            <a:off x="156450" y="201050"/>
            <a:ext cx="4601700" cy="4557000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4200" u="none" cap="none" strike="noStrike">
              <a:solidFill>
                <a:srgbClr val="FFFFFF"/>
              </a:solidFill>
            </a:endParaRPr>
          </a:p>
        </p:txBody>
      </p:sp>
      <p:sp>
        <p:nvSpPr>
          <p:cNvPr id="195" name="Google Shape;195;g3de71e3a195_4_99"/>
          <p:cNvSpPr txBox="1"/>
          <p:nvPr/>
        </p:nvSpPr>
        <p:spPr>
          <a:xfrm>
            <a:off x="89700" y="804061"/>
            <a:ext cx="47352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>
                <a:solidFill>
                  <a:schemeClr val="lt1"/>
                </a:solidFill>
              </a:rPr>
              <a:t>Model Perfprmance (Full Model)</a:t>
            </a:r>
            <a:endParaRPr sz="5500">
              <a:solidFill>
                <a:schemeClr val="lt1"/>
              </a:solidFill>
            </a:endParaRPr>
          </a:p>
        </p:txBody>
      </p:sp>
      <p:sp>
        <p:nvSpPr>
          <p:cNvPr id="196" name="Google Shape;196;g3de71e3a195_4_99"/>
          <p:cNvSpPr txBox="1"/>
          <p:nvPr/>
        </p:nvSpPr>
        <p:spPr>
          <a:xfrm>
            <a:off x="5265850" y="359525"/>
            <a:ext cx="16038900" cy="27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46100" lvl="0" marL="914400" rtl="0" algn="just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5000"/>
              <a:buChar char="●"/>
            </a:pPr>
            <a:r>
              <a:rPr b="1" lang="en-US" sz="5000">
                <a:solidFill>
                  <a:schemeClr val="dk1"/>
                </a:solidFill>
              </a:rPr>
              <a:t>Full Model results</a:t>
            </a:r>
            <a:endParaRPr sz="5000">
              <a:solidFill>
                <a:schemeClr val="dk1"/>
              </a:solidFill>
            </a:endParaRPr>
          </a:p>
        </p:txBody>
      </p:sp>
      <p:pic>
        <p:nvPicPr>
          <p:cNvPr id="197" name="Google Shape;197;g3de71e3a195_4_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5850" y="3083825"/>
            <a:ext cx="16038899" cy="9923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e71e3a195_4_107"/>
          <p:cNvSpPr/>
          <p:nvPr/>
        </p:nvSpPr>
        <p:spPr>
          <a:xfrm>
            <a:off x="0" y="0"/>
            <a:ext cx="4914600" cy="13716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de71e3a195_4_107"/>
          <p:cNvSpPr/>
          <p:nvPr/>
        </p:nvSpPr>
        <p:spPr>
          <a:xfrm>
            <a:off x="156450" y="201050"/>
            <a:ext cx="4601700" cy="4557000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5200" u="none" cap="none" strike="noStrike">
              <a:solidFill>
                <a:srgbClr val="FFFFFF"/>
              </a:solidFill>
            </a:endParaRPr>
          </a:p>
        </p:txBody>
      </p:sp>
      <p:sp>
        <p:nvSpPr>
          <p:cNvPr id="204" name="Google Shape;204;g3de71e3a195_4_107"/>
          <p:cNvSpPr txBox="1"/>
          <p:nvPr/>
        </p:nvSpPr>
        <p:spPr>
          <a:xfrm>
            <a:off x="5476329" y="508006"/>
            <a:ext cx="18215100" cy="12432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8420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Char char="●"/>
            </a:pPr>
            <a:r>
              <a:rPr lang="en-US" sz="5600">
                <a:solidFill>
                  <a:schemeClr val="dk1"/>
                </a:solidFill>
              </a:rPr>
              <a:t>Based on observation from bivariate analysis: remove features with extreme imbalances</a:t>
            </a:r>
            <a:endParaRPr sz="5600">
              <a:solidFill>
                <a:schemeClr val="dk1"/>
              </a:solidFill>
            </a:endParaRPr>
          </a:p>
          <a:p>
            <a:pPr indent="-584200" lvl="0" marL="9144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Char char="●"/>
            </a:pPr>
            <a:r>
              <a:rPr lang="en-US" sz="5600">
                <a:solidFill>
                  <a:schemeClr val="dk1"/>
                </a:solidFill>
              </a:rPr>
              <a:t>Remove features which may cause multicollinearity</a:t>
            </a:r>
            <a:endParaRPr sz="5600">
              <a:solidFill>
                <a:schemeClr val="dk1"/>
              </a:solidFill>
            </a:endParaRPr>
          </a:p>
          <a:p>
            <a:pPr indent="-584200" lvl="0" marL="9144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Char char="●"/>
            </a:pPr>
            <a:r>
              <a:rPr b="1" lang="en-US" sz="5100">
                <a:solidFill>
                  <a:schemeClr val="dk1"/>
                </a:solidFill>
              </a:rPr>
              <a:t>Reduces noise: </a:t>
            </a:r>
            <a:r>
              <a:rPr lang="en-US" sz="5100">
                <a:solidFill>
                  <a:schemeClr val="dk1"/>
                </a:solidFill>
              </a:rPr>
              <a:t>eliminates variables (not contribute signal)</a:t>
            </a:r>
            <a:endParaRPr sz="5100">
              <a:solidFill>
                <a:schemeClr val="dk1"/>
              </a:solidFill>
            </a:endParaRPr>
          </a:p>
          <a:p>
            <a:pPr indent="-552450" lvl="0" marL="9144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100"/>
              <a:buChar char="●"/>
            </a:pPr>
            <a:r>
              <a:rPr b="1" lang="en-US" sz="5100">
                <a:solidFill>
                  <a:schemeClr val="dk1"/>
                </a:solidFill>
              </a:rPr>
              <a:t>Prevents overfitting:</a:t>
            </a:r>
            <a:r>
              <a:rPr lang="en-US" sz="5100">
                <a:solidFill>
                  <a:schemeClr val="dk1"/>
                </a:solidFill>
              </a:rPr>
              <a:t> limits the complexity of the model</a:t>
            </a:r>
            <a:endParaRPr sz="5100">
              <a:solidFill>
                <a:schemeClr val="dk1"/>
              </a:solidFill>
            </a:endParaRPr>
          </a:p>
          <a:p>
            <a:pPr indent="-552450" lvl="0" marL="9144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100"/>
              <a:buChar char="●"/>
            </a:pPr>
            <a:r>
              <a:rPr b="1" lang="en-US" sz="5100">
                <a:solidFill>
                  <a:schemeClr val="dk1"/>
                </a:solidFill>
              </a:rPr>
              <a:t>Simplifies pipeline:</a:t>
            </a:r>
            <a:r>
              <a:rPr lang="en-US" sz="5100">
                <a:solidFill>
                  <a:schemeClr val="dk1"/>
                </a:solidFill>
              </a:rPr>
              <a:t> focuses resources on high-impact drivers</a:t>
            </a:r>
            <a:endParaRPr sz="5600">
              <a:solidFill>
                <a:schemeClr val="dk1"/>
              </a:solidFill>
            </a:endParaRPr>
          </a:p>
        </p:txBody>
      </p:sp>
      <p:sp>
        <p:nvSpPr>
          <p:cNvPr id="205" name="Google Shape;205;g3de71e3a195_4_107"/>
          <p:cNvSpPr txBox="1"/>
          <p:nvPr/>
        </p:nvSpPr>
        <p:spPr>
          <a:xfrm>
            <a:off x="89700" y="1333243"/>
            <a:ext cx="4735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Variable Selection</a:t>
            </a:r>
            <a:endParaRPr sz="7000">
              <a:solidFill>
                <a:schemeClr val="lt1"/>
              </a:solidFill>
            </a:endParaRPr>
          </a:p>
        </p:txBody>
      </p:sp>
      <p:graphicFrame>
        <p:nvGraphicFramePr>
          <p:cNvPr id="206" name="Google Shape;206;g3de71e3a195_4_107"/>
          <p:cNvGraphicFramePr/>
          <p:nvPr/>
        </p:nvGraphicFramePr>
        <p:xfrm>
          <a:off x="5786875" y="707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{535A5783-4DA1-42D3-96C6-3617A0168E8E}</a:tableStyleId>
              </a:tblPr>
              <a:tblGrid>
                <a:gridCol w="5691850"/>
                <a:gridCol w="2958625"/>
                <a:gridCol w="9191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000"/>
                        <a:t>Variable</a:t>
                      </a:r>
                      <a:endParaRPr b="1" sz="40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000"/>
                        <a:t>p-value</a:t>
                      </a:r>
                      <a:endParaRPr b="1" sz="40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000"/>
                        <a:t>Status</a:t>
                      </a:r>
                      <a:endParaRPr b="1" sz="40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/>
                        <a:t>district</a:t>
                      </a:r>
                      <a:endParaRPr sz="40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/>
                        <a:t>&lt; 0.001</a:t>
                      </a:r>
                      <a:endParaRPr sz="40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/>
                        <a:t>Retained </a:t>
                      </a:r>
                      <a:endParaRPr sz="4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400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i="1" lang="en-US" sz="4000">
                          <a:solidFill>
                            <a:srgbClr val="27251E"/>
                          </a:solidFill>
                        </a:rPr>
                        <a:t>Significant, p &lt; 0.05)</a:t>
                      </a:r>
                      <a:endParaRPr i="1" sz="40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/>
                        <a:t>type_of_collision</a:t>
                      </a:r>
                      <a:endParaRPr sz="40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/>
                        <a:t>&lt; 0.001</a:t>
                      </a:r>
                      <a:endParaRPr sz="40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/>
                        <a:t>vehicle_movements</a:t>
                      </a:r>
                      <a:endParaRPr sz="40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/>
                        <a:t>&lt; 0.001</a:t>
                      </a:r>
                      <a:endParaRPr sz="40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/>
                        <a:t>road_classification</a:t>
                      </a:r>
                      <a:endParaRPr sz="40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/>
                        <a:t>1.000</a:t>
                      </a:r>
                      <a:endParaRPr sz="40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/>
                        <a:t>Dropped </a:t>
                      </a:r>
                      <a:endParaRPr sz="4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4000"/>
                        <a:t>(</a:t>
                      </a:r>
                      <a:r>
                        <a:rPr i="1" lang="en-US" sz="4000">
                          <a:solidFill>
                            <a:srgbClr val="27251E"/>
                          </a:solidFill>
                        </a:rPr>
                        <a:t>Non-significant or extreme imbalance)</a:t>
                      </a:r>
                      <a:endParaRPr i="1" sz="40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/>
                        <a:t>hit_and_run</a:t>
                      </a:r>
                      <a:endParaRPr sz="40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/>
                        <a:t>0.214</a:t>
                      </a:r>
                      <a:endParaRPr sz="40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/>
                        <a:t>rain</a:t>
                      </a:r>
                      <a:endParaRPr sz="40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/>
                        <a:t>0.164</a:t>
                      </a:r>
                      <a:endParaRPr sz="40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e71e3a195_4_113"/>
          <p:cNvSpPr/>
          <p:nvPr/>
        </p:nvSpPr>
        <p:spPr>
          <a:xfrm>
            <a:off x="0" y="0"/>
            <a:ext cx="4914600" cy="13716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de71e3a195_4_113"/>
          <p:cNvSpPr/>
          <p:nvPr/>
        </p:nvSpPr>
        <p:spPr>
          <a:xfrm>
            <a:off x="156450" y="201050"/>
            <a:ext cx="4601700" cy="4557000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4200" u="none" cap="none" strike="noStrike">
              <a:solidFill>
                <a:srgbClr val="FFFFFF"/>
              </a:solidFill>
            </a:endParaRPr>
          </a:p>
        </p:txBody>
      </p:sp>
      <p:sp>
        <p:nvSpPr>
          <p:cNvPr id="213" name="Google Shape;213;g3de71e3a195_4_113"/>
          <p:cNvSpPr txBox="1"/>
          <p:nvPr/>
        </p:nvSpPr>
        <p:spPr>
          <a:xfrm>
            <a:off x="89700" y="788957"/>
            <a:ext cx="47352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>
                <a:solidFill>
                  <a:schemeClr val="lt1"/>
                </a:solidFill>
              </a:rPr>
              <a:t>Model Perfprmance (Reduced Model)</a:t>
            </a:r>
            <a:endParaRPr sz="5500">
              <a:solidFill>
                <a:schemeClr val="lt1"/>
              </a:solidFill>
            </a:endParaRPr>
          </a:p>
        </p:txBody>
      </p:sp>
      <p:sp>
        <p:nvSpPr>
          <p:cNvPr id="214" name="Google Shape;214;g3de71e3a195_4_113"/>
          <p:cNvSpPr txBox="1"/>
          <p:nvPr/>
        </p:nvSpPr>
        <p:spPr>
          <a:xfrm>
            <a:off x="5265850" y="359525"/>
            <a:ext cx="16038900" cy="27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4610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Char char="●"/>
            </a:pPr>
            <a:r>
              <a:rPr b="1" lang="en-US" sz="5000">
                <a:solidFill>
                  <a:schemeClr val="dk1"/>
                </a:solidFill>
              </a:rPr>
              <a:t>Reduced</a:t>
            </a:r>
            <a:r>
              <a:rPr b="1" lang="en-US" sz="5000">
                <a:solidFill>
                  <a:schemeClr val="dk1"/>
                </a:solidFill>
              </a:rPr>
              <a:t> Model - Cross-validation AUC scores:</a:t>
            </a:r>
            <a:r>
              <a:rPr lang="en-US" sz="5000">
                <a:solidFill>
                  <a:schemeClr val="dk1"/>
                </a:solidFill>
              </a:rPr>
              <a:t> </a:t>
            </a:r>
            <a:r>
              <a:rPr lang="en-US" sz="5000">
                <a:solidFill>
                  <a:schemeClr val="dk1"/>
                </a:solidFill>
              </a:rPr>
              <a:t>[0.7066 0.7205 0.6913 0.7278 0.708 ]</a:t>
            </a:r>
            <a:endParaRPr sz="5000">
              <a:solidFill>
                <a:schemeClr val="dk1"/>
              </a:solidFill>
            </a:endParaRPr>
          </a:p>
          <a:p>
            <a:pPr indent="-546100" lvl="0" marL="9144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●"/>
            </a:pPr>
            <a:r>
              <a:rPr b="1" lang="en-US" sz="5000">
                <a:solidFill>
                  <a:schemeClr val="dk1"/>
                </a:solidFill>
              </a:rPr>
              <a:t>Mean CV AUC:</a:t>
            </a:r>
            <a:r>
              <a:rPr lang="en-US" sz="5000">
                <a:solidFill>
                  <a:schemeClr val="dk1"/>
                </a:solidFill>
              </a:rPr>
              <a:t> 0.7108 ± 0.0125</a:t>
            </a:r>
            <a:endParaRPr sz="5000">
              <a:solidFill>
                <a:schemeClr val="dk1"/>
              </a:solidFill>
            </a:endParaRPr>
          </a:p>
        </p:txBody>
      </p:sp>
      <p:pic>
        <p:nvPicPr>
          <p:cNvPr id="215" name="Google Shape;215;g3de71e3a195_4_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2050" y="3401600"/>
            <a:ext cx="16922958" cy="961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e71e3a195_4_119"/>
          <p:cNvSpPr/>
          <p:nvPr/>
        </p:nvSpPr>
        <p:spPr>
          <a:xfrm>
            <a:off x="0" y="0"/>
            <a:ext cx="4914600" cy="13716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de71e3a195_4_119"/>
          <p:cNvSpPr/>
          <p:nvPr/>
        </p:nvSpPr>
        <p:spPr>
          <a:xfrm>
            <a:off x="156450" y="201050"/>
            <a:ext cx="4601700" cy="4557000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4200" u="none" cap="none" strike="noStrike">
              <a:solidFill>
                <a:srgbClr val="FFFFFF"/>
              </a:solidFill>
            </a:endParaRPr>
          </a:p>
        </p:txBody>
      </p:sp>
      <p:sp>
        <p:nvSpPr>
          <p:cNvPr id="222" name="Google Shape;222;g3de71e3a195_4_119"/>
          <p:cNvSpPr txBox="1"/>
          <p:nvPr/>
        </p:nvSpPr>
        <p:spPr>
          <a:xfrm>
            <a:off x="89700" y="1142743"/>
            <a:ext cx="47352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chemeClr val="lt1"/>
                </a:solidFill>
              </a:rPr>
              <a:t>Model Comparison</a:t>
            </a:r>
            <a:endParaRPr sz="6600">
              <a:solidFill>
                <a:schemeClr val="lt1"/>
              </a:solidFill>
            </a:endParaRPr>
          </a:p>
        </p:txBody>
      </p:sp>
      <p:pic>
        <p:nvPicPr>
          <p:cNvPr id="223" name="Google Shape;223;g3de71e3a195_4_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3950" y="877962"/>
            <a:ext cx="19153276" cy="173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3de71e3a195_4_1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3950" y="3359150"/>
            <a:ext cx="9552325" cy="9760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g3de71e3a195_4_1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96000" y="3359150"/>
            <a:ext cx="9364300" cy="955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e71e3a195_4_125"/>
          <p:cNvSpPr/>
          <p:nvPr/>
        </p:nvSpPr>
        <p:spPr>
          <a:xfrm>
            <a:off x="0" y="0"/>
            <a:ext cx="4914600" cy="13716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de71e3a195_4_125"/>
          <p:cNvSpPr/>
          <p:nvPr/>
        </p:nvSpPr>
        <p:spPr>
          <a:xfrm>
            <a:off x="156450" y="201050"/>
            <a:ext cx="4601700" cy="4557000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i="0" sz="4100" u="none" cap="none" strike="noStrike">
              <a:solidFill>
                <a:srgbClr val="FFFFFF"/>
              </a:solidFill>
            </a:endParaRPr>
          </a:p>
        </p:txBody>
      </p:sp>
      <p:sp>
        <p:nvSpPr>
          <p:cNvPr id="232" name="Google Shape;232;g3de71e3a195_4_125"/>
          <p:cNvSpPr txBox="1"/>
          <p:nvPr/>
        </p:nvSpPr>
        <p:spPr>
          <a:xfrm>
            <a:off x="89700" y="1142743"/>
            <a:ext cx="47352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chemeClr val="lt1"/>
                </a:solidFill>
              </a:rPr>
              <a:t>Model </a:t>
            </a:r>
            <a:r>
              <a:rPr lang="en-US" sz="6600">
                <a:solidFill>
                  <a:schemeClr val="lt1"/>
                </a:solidFill>
              </a:rPr>
              <a:t>Comparison</a:t>
            </a:r>
            <a:endParaRPr sz="6600">
              <a:solidFill>
                <a:schemeClr val="lt1"/>
              </a:solidFill>
            </a:endParaRPr>
          </a:p>
        </p:txBody>
      </p:sp>
      <p:pic>
        <p:nvPicPr>
          <p:cNvPr id="233" name="Google Shape;233;g3de71e3a195_4_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3375" y="652195"/>
            <a:ext cx="19198874" cy="370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de71e3a195_4_1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3375" y="5133322"/>
            <a:ext cx="19052049" cy="690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e71e3a195_4_144"/>
          <p:cNvSpPr/>
          <p:nvPr/>
        </p:nvSpPr>
        <p:spPr>
          <a:xfrm>
            <a:off x="0" y="0"/>
            <a:ext cx="4914600" cy="13716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de71e3a195_4_144"/>
          <p:cNvSpPr/>
          <p:nvPr/>
        </p:nvSpPr>
        <p:spPr>
          <a:xfrm>
            <a:off x="156450" y="201050"/>
            <a:ext cx="4601700" cy="4557000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5200" u="none" cap="none" strike="noStrike">
              <a:solidFill>
                <a:srgbClr val="FFFFFF"/>
              </a:solidFill>
            </a:endParaRPr>
          </a:p>
        </p:txBody>
      </p:sp>
      <p:sp>
        <p:nvSpPr>
          <p:cNvPr id="241" name="Google Shape;241;g3de71e3a195_4_144"/>
          <p:cNvSpPr txBox="1"/>
          <p:nvPr/>
        </p:nvSpPr>
        <p:spPr>
          <a:xfrm>
            <a:off x="5673250" y="609250"/>
            <a:ext cx="18465900" cy="815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chemeClr val="dk1"/>
                </a:solidFill>
              </a:rPr>
              <a:t>Trade-off summary:</a:t>
            </a:r>
            <a:endParaRPr b="1"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1"/>
              </a:solidFill>
            </a:endParaRPr>
          </a:p>
          <a:p>
            <a:pPr indent="-5461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Char char="●"/>
            </a:pPr>
            <a:r>
              <a:rPr lang="en-US" sz="5000">
                <a:solidFill>
                  <a:schemeClr val="dk1"/>
                </a:solidFill>
              </a:rPr>
              <a:t>Need high accuracy / fewer false alarms → </a:t>
            </a:r>
            <a:r>
              <a:rPr b="1" lang="en-US" sz="5000">
                <a:solidFill>
                  <a:schemeClr val="dk1"/>
                </a:solidFill>
              </a:rPr>
              <a:t>SMOTE</a:t>
            </a:r>
            <a:endParaRPr b="1" sz="5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</a:endParaRPr>
          </a:p>
          <a:p>
            <a:pPr indent="-5461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Char char="●"/>
            </a:pPr>
            <a:r>
              <a:rPr lang="en-US" sz="5000">
                <a:solidFill>
                  <a:schemeClr val="dk1"/>
                </a:solidFill>
              </a:rPr>
              <a:t>Need high recall / catch severe accidents → </a:t>
            </a:r>
            <a:r>
              <a:rPr b="1" lang="en-US" sz="5000">
                <a:solidFill>
                  <a:schemeClr val="dk1"/>
                </a:solidFill>
              </a:rPr>
              <a:t>Ensemble (best) or ROS</a:t>
            </a:r>
            <a:endParaRPr b="1" sz="5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</a:endParaRPr>
          </a:p>
          <a:p>
            <a:pPr indent="-5461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Char char="●"/>
            </a:pPr>
            <a:r>
              <a:rPr lang="en-US" sz="5000">
                <a:solidFill>
                  <a:schemeClr val="dk1"/>
                </a:solidFill>
              </a:rPr>
              <a:t>Need stable high recall with less variance → </a:t>
            </a:r>
            <a:r>
              <a:rPr b="1" lang="en-US" sz="5000">
                <a:solidFill>
                  <a:schemeClr val="dk1"/>
                </a:solidFill>
              </a:rPr>
              <a:t>Ensemble (preferred in production)</a:t>
            </a:r>
            <a:endParaRPr b="1" sz="5000">
              <a:solidFill>
                <a:schemeClr val="dk1"/>
              </a:solidFill>
            </a:endParaRPr>
          </a:p>
        </p:txBody>
      </p:sp>
      <p:sp>
        <p:nvSpPr>
          <p:cNvPr id="242" name="Google Shape;242;g3de71e3a195_4_144"/>
          <p:cNvSpPr txBox="1"/>
          <p:nvPr/>
        </p:nvSpPr>
        <p:spPr>
          <a:xfrm>
            <a:off x="89700" y="1850314"/>
            <a:ext cx="4735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Results</a:t>
            </a:r>
            <a:endParaRPr sz="7000">
              <a:solidFill>
                <a:schemeClr val="lt1"/>
              </a:solidFill>
            </a:endParaRPr>
          </a:p>
        </p:txBody>
      </p:sp>
      <p:pic>
        <p:nvPicPr>
          <p:cNvPr id="243" name="Google Shape;243;g3de71e3a195_4_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6101" y="8593275"/>
            <a:ext cx="17545451" cy="436405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e71e3a195_4_164"/>
          <p:cNvSpPr/>
          <p:nvPr/>
        </p:nvSpPr>
        <p:spPr>
          <a:xfrm>
            <a:off x="0" y="0"/>
            <a:ext cx="4914600" cy="13716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de71e3a195_4_164"/>
          <p:cNvSpPr/>
          <p:nvPr/>
        </p:nvSpPr>
        <p:spPr>
          <a:xfrm>
            <a:off x="156450" y="201050"/>
            <a:ext cx="4601700" cy="4557000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5200" u="none" cap="none" strike="noStrike">
              <a:solidFill>
                <a:srgbClr val="FFFFFF"/>
              </a:solidFill>
            </a:endParaRPr>
          </a:p>
        </p:txBody>
      </p:sp>
      <p:sp>
        <p:nvSpPr>
          <p:cNvPr id="250" name="Google Shape;250;g3de71e3a195_4_164"/>
          <p:cNvSpPr txBox="1"/>
          <p:nvPr/>
        </p:nvSpPr>
        <p:spPr>
          <a:xfrm>
            <a:off x="89700" y="1142743"/>
            <a:ext cx="4735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Key Findings</a:t>
            </a:r>
            <a:endParaRPr sz="7000">
              <a:solidFill>
                <a:schemeClr val="lt1"/>
              </a:solidFill>
            </a:endParaRPr>
          </a:p>
        </p:txBody>
      </p:sp>
      <p:sp>
        <p:nvSpPr>
          <p:cNvPr id="251" name="Google Shape;251;g3de71e3a195_4_164"/>
          <p:cNvSpPr txBox="1"/>
          <p:nvPr/>
        </p:nvSpPr>
        <p:spPr>
          <a:xfrm>
            <a:off x="5063100" y="201050"/>
            <a:ext cx="19076100" cy="12643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82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b="1" lang="en-US" sz="4000">
                <a:solidFill>
                  <a:schemeClr val="dk1"/>
                </a:solidFill>
              </a:rPr>
              <a:t>Time of Day Matters</a:t>
            </a:r>
            <a:endParaRPr b="1" sz="4000">
              <a:solidFill>
                <a:schemeClr val="dk1"/>
              </a:solidFill>
            </a:endParaRPr>
          </a:p>
          <a:p>
            <a:pPr indent="-4826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</a:pPr>
            <a:r>
              <a:rPr lang="en-US" sz="4000">
                <a:solidFill>
                  <a:schemeClr val="dk1"/>
                </a:solidFill>
              </a:rPr>
              <a:t>Evening/night slots (time_slot_2 [12:00-18:00], time_slot_3 [18:00-24:00]) strongly increase severity risk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</a:endParaRPr>
          </a:p>
          <a:p>
            <a:pPr indent="-482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b="1" lang="en-US" sz="4000">
                <a:solidFill>
                  <a:schemeClr val="dk1"/>
                </a:solidFill>
              </a:rPr>
              <a:t>District-Level Effects</a:t>
            </a:r>
            <a:endParaRPr b="1" sz="4000">
              <a:solidFill>
                <a:schemeClr val="dk1"/>
              </a:solidFill>
            </a:endParaRPr>
          </a:p>
          <a:p>
            <a:pPr indent="-4826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</a:pPr>
            <a:r>
              <a:rPr lang="en-US" sz="4000">
                <a:solidFill>
                  <a:schemeClr val="dk1"/>
                </a:solidFill>
              </a:rPr>
              <a:t>Certain districts (e.g., Tsuen Wan [TW], Tai Po [TP], Eastern [E], Sha Tin [ST]) show much higher odds of severe accidents</a:t>
            </a:r>
            <a:endParaRPr sz="4000">
              <a:solidFill>
                <a:schemeClr val="dk1"/>
              </a:solidFill>
            </a:endParaRPr>
          </a:p>
          <a:p>
            <a:pPr indent="-4826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</a:pPr>
            <a:r>
              <a:rPr lang="en-US" sz="4000">
                <a:solidFill>
                  <a:schemeClr val="dk1"/>
                </a:solidFill>
              </a:rPr>
              <a:t>Others (e.g., Yau Tsim Mong [YTM], Kowloon City [KC]) show lower relative risk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-482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b="1" lang="en-US" sz="4000">
                <a:solidFill>
                  <a:schemeClr val="dk1"/>
                </a:solidFill>
              </a:rPr>
              <a:t>Vehicle Type Influence</a:t>
            </a:r>
            <a:endParaRPr b="1" sz="4000">
              <a:solidFill>
                <a:schemeClr val="dk1"/>
              </a:solidFill>
            </a:endParaRPr>
          </a:p>
          <a:p>
            <a:pPr indent="-4826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</a:pPr>
            <a:r>
              <a:rPr lang="en-US" sz="4000">
                <a:solidFill>
                  <a:schemeClr val="dk1"/>
                </a:solidFill>
              </a:rPr>
              <a:t>Motorcycles and bicycles are associated with higher severity odds</a:t>
            </a:r>
            <a:endParaRPr sz="4000">
              <a:solidFill>
                <a:schemeClr val="dk1"/>
              </a:solidFill>
            </a:endParaRPr>
          </a:p>
          <a:p>
            <a:pPr indent="-4826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</a:pPr>
            <a:r>
              <a:rPr lang="en-US" sz="4000">
                <a:solidFill>
                  <a:schemeClr val="dk1"/>
                </a:solidFill>
              </a:rPr>
              <a:t>Public bus and goods vehicles show negative coefficients, reducing severity likelihood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-482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b="1" lang="en-US" sz="4000">
                <a:solidFill>
                  <a:schemeClr val="dk1"/>
                </a:solidFill>
              </a:rPr>
              <a:t>Traffic Movements</a:t>
            </a:r>
            <a:endParaRPr b="1" sz="4000">
              <a:solidFill>
                <a:schemeClr val="dk1"/>
              </a:solidFill>
            </a:endParaRPr>
          </a:p>
          <a:p>
            <a:pPr indent="-4826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</a:pPr>
            <a:r>
              <a:rPr lang="en-US" sz="4000">
                <a:solidFill>
                  <a:schemeClr val="dk1"/>
                </a:solidFill>
              </a:rPr>
              <a:t>Higher vehicle movements (e.g., </a:t>
            </a:r>
            <a:r>
              <a:rPr b="1" lang="en-US" sz="4000">
                <a:solidFill>
                  <a:schemeClr val="dk1"/>
                </a:solidFill>
              </a:rPr>
              <a:t>vehicle_movements_5</a:t>
            </a:r>
            <a:r>
              <a:rPr lang="en-US" sz="4000">
                <a:solidFill>
                  <a:schemeClr val="dk1"/>
                </a:solidFill>
              </a:rPr>
              <a:t>: &gt; 2 moving vehicles - from same direction) sharply increase severity</a:t>
            </a:r>
            <a:endParaRPr sz="4000">
              <a:solidFill>
                <a:schemeClr val="dk1"/>
              </a:solidFill>
            </a:endParaRPr>
          </a:p>
          <a:p>
            <a:pPr indent="-4826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</a:pPr>
            <a:r>
              <a:rPr lang="en-US" sz="4000">
                <a:solidFill>
                  <a:schemeClr val="dk1"/>
                </a:solidFill>
              </a:rPr>
              <a:t>More vehicles involved overall (num_vehicles_involved) reduces severity odds, suggesting multi-vehicle crashes are less severe than single-vehicle/pedestrian collisions</a:t>
            </a:r>
            <a:endParaRPr sz="4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e71e3a195_4_173"/>
          <p:cNvSpPr/>
          <p:nvPr/>
        </p:nvSpPr>
        <p:spPr>
          <a:xfrm>
            <a:off x="0" y="0"/>
            <a:ext cx="4914600" cy="13716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de71e3a195_4_173"/>
          <p:cNvSpPr/>
          <p:nvPr/>
        </p:nvSpPr>
        <p:spPr>
          <a:xfrm>
            <a:off x="156450" y="201050"/>
            <a:ext cx="4601700" cy="4557000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i="0" sz="4300" u="none" cap="none" strike="noStrike">
              <a:solidFill>
                <a:srgbClr val="FFFFFF"/>
              </a:solidFill>
            </a:endParaRPr>
          </a:p>
        </p:txBody>
      </p:sp>
      <p:sp>
        <p:nvSpPr>
          <p:cNvPr id="258" name="Google Shape;258;g3de71e3a195_4_173"/>
          <p:cNvSpPr txBox="1"/>
          <p:nvPr/>
        </p:nvSpPr>
        <p:spPr>
          <a:xfrm>
            <a:off x="5063125" y="201050"/>
            <a:ext cx="19041000" cy="13515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82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b="1" lang="en-US" sz="4000">
                <a:solidFill>
                  <a:schemeClr val="dk1"/>
                </a:solidFill>
              </a:rPr>
              <a:t>Manage Risky Traffic Movements</a:t>
            </a:r>
            <a:endParaRPr b="1" sz="4000">
              <a:solidFill>
                <a:schemeClr val="dk1"/>
              </a:solidFill>
            </a:endParaRPr>
          </a:p>
          <a:p>
            <a:pPr indent="-4826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</a:pPr>
            <a:r>
              <a:rPr lang="en-US" sz="4000">
                <a:solidFill>
                  <a:schemeClr val="dk1"/>
                </a:solidFill>
              </a:rPr>
              <a:t>Focus on reducing dangerous maneuvers (e.g., risky overtaking, tailgating, sudden lane changes) rather than simply reducing multi-vehicle crashes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-482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b="1" lang="en-US" sz="4000">
                <a:solidFill>
                  <a:schemeClr val="dk1"/>
                </a:solidFill>
              </a:rPr>
              <a:t>Target High-Risk Districts</a:t>
            </a:r>
            <a:endParaRPr b="1" sz="4000">
              <a:solidFill>
                <a:schemeClr val="dk1"/>
              </a:solidFill>
            </a:endParaRPr>
          </a:p>
          <a:p>
            <a:pPr indent="-4826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</a:pPr>
            <a:r>
              <a:rPr lang="en-US" sz="4000">
                <a:solidFill>
                  <a:schemeClr val="dk1"/>
                </a:solidFill>
              </a:rPr>
              <a:t>Localized enforcement and safety campaigns in districts with higher odds of severe accidents (e.g., Tsuen Wan, Kwun Tong, Eastern, Sha Tin)</a:t>
            </a:r>
            <a:endParaRPr sz="4000">
              <a:solidFill>
                <a:schemeClr val="dk1"/>
              </a:solidFill>
            </a:endParaRPr>
          </a:p>
          <a:p>
            <a:pPr indent="-48260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lang="en-US" sz="4000">
                <a:solidFill>
                  <a:schemeClr val="dk1"/>
                </a:solidFill>
              </a:rPr>
              <a:t>Infrastructure upgrades tailored to district-specific risk profiles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-482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b="1" lang="en-US" sz="4000">
                <a:solidFill>
                  <a:schemeClr val="dk1"/>
                </a:solidFill>
              </a:rPr>
              <a:t>Address Vehicle-Type Risks</a:t>
            </a:r>
            <a:endParaRPr b="1" sz="4000">
              <a:solidFill>
                <a:schemeClr val="dk1"/>
              </a:solidFill>
            </a:endParaRPr>
          </a:p>
          <a:p>
            <a:pPr indent="-4826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</a:pPr>
            <a:r>
              <a:rPr lang="en-US" sz="4000">
                <a:solidFill>
                  <a:schemeClr val="dk1"/>
                </a:solidFill>
              </a:rPr>
              <a:t>Motorcycle safety campaigns (protective gear, awareness training)</a:t>
            </a:r>
            <a:endParaRPr sz="4000">
              <a:solidFill>
                <a:schemeClr val="dk1"/>
              </a:solidFill>
            </a:endParaRPr>
          </a:p>
          <a:p>
            <a:pPr indent="-4826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</a:pPr>
            <a:r>
              <a:rPr lang="en-US" sz="4000">
                <a:solidFill>
                  <a:schemeClr val="dk1"/>
                </a:solidFill>
              </a:rPr>
              <a:t>Stricter goods vehicle regulations (speed limits, loading checks)</a:t>
            </a:r>
            <a:endParaRPr sz="4000">
              <a:solidFill>
                <a:schemeClr val="dk1"/>
              </a:solidFill>
            </a:endParaRPr>
          </a:p>
          <a:p>
            <a:pPr indent="-4826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</a:pPr>
            <a:r>
              <a:rPr lang="en-US" sz="4000">
                <a:solidFill>
                  <a:schemeClr val="dk1"/>
                </a:solidFill>
              </a:rPr>
              <a:t>Taxi and bus driver training programs to mitigate high-severity risks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</a:endParaRPr>
          </a:p>
          <a:p>
            <a:pPr indent="-482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b="1" lang="en-US" sz="4000">
                <a:solidFill>
                  <a:schemeClr val="dk1"/>
                </a:solidFill>
              </a:rPr>
              <a:t>Prioritize Pedestrian Safety (Collision Types)</a:t>
            </a:r>
            <a:endParaRPr b="1" sz="4000">
              <a:solidFill>
                <a:schemeClr val="dk1"/>
              </a:solidFill>
            </a:endParaRPr>
          </a:p>
          <a:p>
            <a:pPr indent="-4826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</a:pPr>
            <a:r>
              <a:rPr lang="en-US" sz="4000">
                <a:solidFill>
                  <a:schemeClr val="dk1"/>
                </a:solidFill>
              </a:rPr>
              <a:t>Protected crossings and pedestrian zones</a:t>
            </a:r>
            <a:endParaRPr sz="4000">
              <a:solidFill>
                <a:schemeClr val="dk1"/>
              </a:solidFill>
            </a:endParaRPr>
          </a:p>
          <a:p>
            <a:pPr indent="-4826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</a:pPr>
            <a:r>
              <a:rPr lang="en-US" sz="4000">
                <a:solidFill>
                  <a:schemeClr val="dk1"/>
                </a:solidFill>
              </a:rPr>
              <a:t>Urban speed limits and awareness campaigns to reduce severe pedestrian collisions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-482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b="1" lang="en-US" sz="4000">
                <a:solidFill>
                  <a:schemeClr val="dk1"/>
                </a:solidFill>
              </a:rPr>
              <a:t>Enhance Visibility and Lighting (Time of Day)</a:t>
            </a:r>
            <a:endParaRPr b="1" sz="4000">
              <a:solidFill>
                <a:schemeClr val="dk1"/>
              </a:solidFill>
            </a:endParaRPr>
          </a:p>
          <a:p>
            <a:pPr indent="-4826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</a:pPr>
            <a:r>
              <a:rPr lang="en-US" sz="4000">
                <a:solidFill>
                  <a:schemeClr val="dk1"/>
                </a:solidFill>
              </a:rPr>
              <a:t>Improve street lighting and reflective markings</a:t>
            </a:r>
            <a:endParaRPr sz="4000">
              <a:solidFill>
                <a:schemeClr val="dk1"/>
              </a:solidFill>
            </a:endParaRPr>
          </a:p>
          <a:p>
            <a:pPr indent="-4826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</a:pPr>
            <a:r>
              <a:rPr lang="en-US" sz="4000">
                <a:solidFill>
                  <a:schemeClr val="dk1"/>
                </a:solidFill>
              </a:rPr>
              <a:t>Special focus on dawn/dusk and nighttime conditions where severity risk spikes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259" name="Google Shape;259;g3de71e3a195_4_173"/>
          <p:cNvSpPr txBox="1"/>
          <p:nvPr/>
        </p:nvSpPr>
        <p:spPr>
          <a:xfrm>
            <a:off x="-396150" y="1863800"/>
            <a:ext cx="57069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>
                <a:solidFill>
                  <a:schemeClr val="lt1"/>
                </a:solidFill>
              </a:rPr>
              <a:t>Suggestions</a:t>
            </a:r>
            <a:endParaRPr sz="6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"/>
          <p:cNvSpPr txBox="1"/>
          <p:nvPr/>
        </p:nvSpPr>
        <p:spPr>
          <a:xfrm>
            <a:off x="4444025" y="2438325"/>
            <a:ext cx="16355100" cy="942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0">
                <a:solidFill>
                  <a:schemeClr val="dk1"/>
                </a:solidFill>
              </a:rPr>
              <a:t>Thank you! </a:t>
            </a:r>
            <a:endParaRPr b="1" sz="20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0">
                <a:solidFill>
                  <a:schemeClr val="dk1"/>
                </a:solidFill>
              </a:rPr>
              <a:t>Q &amp; A welcome!</a:t>
            </a:r>
            <a:endParaRPr b="1" sz="20000">
              <a:solidFill>
                <a:schemeClr val="dk1"/>
              </a:solidFill>
            </a:endParaRPr>
          </a:p>
        </p:txBody>
      </p:sp>
      <p:pic>
        <p:nvPicPr>
          <p:cNvPr id="265" name="Google Shape;265;p11"/>
          <p:cNvPicPr preferRelativeResize="0"/>
          <p:nvPr/>
        </p:nvPicPr>
        <p:blipFill rotWithShape="1">
          <a:blip r:embed="rId3">
            <a:alphaModFix/>
          </a:blip>
          <a:srcRect b="19335" l="67335" r="3157" t="17827"/>
          <a:stretch/>
        </p:blipFill>
        <p:spPr>
          <a:xfrm>
            <a:off x="5499100" y="5719575"/>
            <a:ext cx="3086100" cy="26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5bdbc3ad3_0_47"/>
          <p:cNvSpPr/>
          <p:nvPr/>
        </p:nvSpPr>
        <p:spPr>
          <a:xfrm>
            <a:off x="0" y="0"/>
            <a:ext cx="4914600" cy="13716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d5bdbc3ad3_0_47"/>
          <p:cNvSpPr/>
          <p:nvPr/>
        </p:nvSpPr>
        <p:spPr>
          <a:xfrm>
            <a:off x="156450" y="201050"/>
            <a:ext cx="4601700" cy="4557000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i="0" sz="5200" u="none" cap="none" strike="noStrike">
              <a:solidFill>
                <a:srgbClr val="FFFFFF"/>
              </a:solidFill>
            </a:endParaRPr>
          </a:p>
        </p:txBody>
      </p:sp>
      <p:graphicFrame>
        <p:nvGraphicFramePr>
          <p:cNvPr id="272" name="Google Shape;272;g3d5bdbc3ad3_0_47"/>
          <p:cNvGraphicFramePr/>
          <p:nvPr/>
        </p:nvGraphicFramePr>
        <p:xfrm>
          <a:off x="5377550" y="473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{99B5FD9D-0E74-415E-A609-D18821256051}</a:tableStyleId>
              </a:tblPr>
              <a:tblGrid>
                <a:gridCol w="4445925"/>
                <a:gridCol w="3771350"/>
                <a:gridCol w="10533350"/>
              </a:tblGrid>
              <a:tr h="65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Variable Name</a:t>
                      </a:r>
                      <a:endParaRPr b="1"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Type</a:t>
                      </a:r>
                      <a:endParaRPr b="1"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Description</a:t>
                      </a:r>
                      <a:endParaRPr b="1"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/>
                </a:tc>
              </a:tr>
              <a:tr h="209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severity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Categorical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0 = Slight (One or more persons injured and detention in hospital, if required, will not be more than twelve hours.), 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1 = Serious (One or more persons injured and detained in hospital for more than twelve hours, or one or more persons died within 30 days of the accident.)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/>
                </a:tc>
              </a:tr>
              <a:tr h="1004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district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Categorical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WCH, KT, SK, TM, KTS, CW, E, YTM, S, I, KC, WTS, TP, SSPO, ST, N, YL, TW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/>
                </a:tc>
              </a:tr>
              <a:tr h="58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hit_and_ru</a:t>
                      </a: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n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Categorical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1 = Yes, 2 = No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/>
                </a:tc>
              </a:tr>
              <a:tr h="630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weather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Categorical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1 = Clear, 2 = Dull, 3 = Fog/mist, 4 = Strong wind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/>
                </a:tc>
              </a:tr>
              <a:tr h="57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rain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Categorical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1 = Not raining, 2 = Light rain, 3 = Heavy rain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/>
                </a:tc>
              </a:tr>
              <a:tr h="57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natural_light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Categorical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1 = Daylight, 2 = Dawn/Dusk, 3 = Dark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/>
                </a:tc>
              </a:tr>
              <a:tr h="248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junction_control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Categorical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1 = No control,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2 = Stop (halt),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3 = Give way (slow),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4 = Traffic signal,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5 = Police,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6 = Not junction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vehicle_movements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Categorical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1 = One moving vehicle, 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2 = Two moving vehicles - from same direction, 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3 = Two moving vehicles - from opposite direction, 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4 = Two moving vehicles - from different, roads, 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5 = &gt; 2 moving vehicles - from same direction, 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6 = &gt; 2 moving vehicles - from opposite direction, 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7 = &gt;2 moving vehicles - from different roads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3" name="Google Shape;273;g3d5bdbc3ad3_0_47"/>
          <p:cNvSpPr txBox="1"/>
          <p:nvPr/>
        </p:nvSpPr>
        <p:spPr>
          <a:xfrm>
            <a:off x="89700" y="1306029"/>
            <a:ext cx="4735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Variable Summary</a:t>
            </a:r>
            <a:endParaRPr sz="7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d5bdbc3ad3_0_33"/>
          <p:cNvSpPr/>
          <p:nvPr/>
        </p:nvSpPr>
        <p:spPr>
          <a:xfrm>
            <a:off x="0" y="0"/>
            <a:ext cx="4914600" cy="13716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d5bdbc3ad3_0_33"/>
          <p:cNvSpPr/>
          <p:nvPr/>
        </p:nvSpPr>
        <p:spPr>
          <a:xfrm>
            <a:off x="156450" y="201050"/>
            <a:ext cx="4601700" cy="4557000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5200">
              <a:solidFill>
                <a:srgbClr val="FFFFFF"/>
              </a:solidFill>
            </a:endParaRPr>
          </a:p>
        </p:txBody>
      </p:sp>
      <p:graphicFrame>
        <p:nvGraphicFramePr>
          <p:cNvPr id="280" name="Google Shape;280;g3d5bdbc3ad3_0_33"/>
          <p:cNvGraphicFramePr/>
          <p:nvPr/>
        </p:nvGraphicFramePr>
        <p:xfrm>
          <a:off x="5377550" y="473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{99B5FD9D-0E74-415E-A609-D18821256051}</a:tableStyleId>
              </a:tblPr>
              <a:tblGrid>
                <a:gridCol w="4403075"/>
                <a:gridCol w="3879850"/>
                <a:gridCol w="10424150"/>
              </a:tblGrid>
              <a:tr h="2157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type_of_collision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Categorical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1 = Vehicle collision with Pedestrian, 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2 = Vehicle collision with Vehicle, 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3 = Vehicle collision with Object (including accidents of unknown accident collision type),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4 = Vehicle without collision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num_vehicles_involved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Numeric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No. of Vehicles Involved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time_slot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Categorical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0 = 0-6, 1 = 6-12, 2 = 12-18, 3 = 18-24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is_holiday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Categorical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0 = Not Holiday, 1 = Holiday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has_young_driver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Categorical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0 = no young driver involved (age &lt; 25), 1 = young driver involved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has_old_driver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Categorical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0 = no old driver involved (age &gt; 65), 1 = old driver involved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has_old_vehicle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Categorical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0 = no old vehicles involved (vehicle age &gt; 10), 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1 = old vehicles involved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bicycle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Categorical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0 = accident without bicycle, 1 = accident with bicycle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motorcycle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Categorical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0 = accident without motorcycle, 1 = accident with motorcycle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private_car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Categorical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0 = accident without private car, 1 = accident with private car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6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public_light_bus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Categorical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0 = accident without public light bus, 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1 = accident with public light bus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taxi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Categorical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0 = accident without taxi, 1 = accident with taxi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public_bus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Categorical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0 = accident without public bus, 1 = accident with public bus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goods_vehicle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Categorical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0 = accident without goods_vehicle, 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262626"/>
                          </a:solidFill>
                          <a:highlight>
                            <a:srgbClr val="FFFFFF"/>
                          </a:highlight>
                        </a:rPr>
                        <a:t>1 = accident with goods_vehicle</a:t>
                      </a:r>
                      <a:endParaRPr sz="3000">
                        <a:solidFill>
                          <a:srgbClr val="26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1" name="Google Shape;281;g3d5bdbc3ad3_0_33"/>
          <p:cNvSpPr txBox="1"/>
          <p:nvPr/>
        </p:nvSpPr>
        <p:spPr>
          <a:xfrm>
            <a:off x="89700" y="1306029"/>
            <a:ext cx="4735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Variable Summary</a:t>
            </a:r>
            <a:endParaRPr sz="7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8_Academy">
  <a:themeElements>
    <a:clrScheme name="28_Academy">
      <a:dk1>
        <a:srgbClr val="000000"/>
      </a:dk1>
      <a:lt1>
        <a:srgbClr val="FFFFFF"/>
      </a:lt1>
      <a:dk2>
        <a:srgbClr val="555952"/>
      </a:dk2>
      <a:lt2>
        <a:srgbClr val="D6DCCF"/>
      </a:lt2>
      <a:accent1>
        <a:srgbClr val="3B39E4"/>
      </a:accent1>
      <a:accent2>
        <a:srgbClr val="51C1FD"/>
      </a:accent2>
      <a:accent3>
        <a:srgbClr val="5EF7D2"/>
      </a:accent3>
      <a:accent4>
        <a:srgbClr val="BFF823"/>
      </a:accent4>
      <a:accent5>
        <a:srgbClr val="FFA728"/>
      </a:accent5>
      <a:accent6>
        <a:srgbClr val="FF5F52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